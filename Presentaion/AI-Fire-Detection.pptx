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17"/>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14630400" cy="8229600"/>
  <p:notesSz cx="8229600" cy="14630400"/>
  <p:embeddedFontLst>
    <p:embeddedFont>
      <p:font typeface="Dela Gothic One" panose="020B0604020202020204" charset="-128"/>
      <p:regular r:id="rId18"/>
    </p:embeddedFont>
    <p:embeddedFont>
      <p:font typeface="DM Sans" pitchFamily="2" charset="0"/>
      <p:regular r:id="rId19"/>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F79985-BB47-4F0A-B991-21AEE1D727D3}" v="20" dt="2025-07-29T01:19:16.6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3" d="100"/>
          <a:sy n="133" d="100"/>
        </p:scale>
        <p:origin x="318"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7907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A0A">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7111365" y="2954060"/>
            <a:ext cx="5894070" cy="712708"/>
          </a:xfrm>
          <a:prstGeom prst="rect">
            <a:avLst/>
          </a:prstGeom>
          <a:noFill/>
          <a:ln/>
        </p:spPr>
        <p:txBody>
          <a:bodyPr wrap="none" lIns="0" tIns="0" rIns="0" bIns="0" rtlCol="0" anchor="t"/>
          <a:lstStyle/>
          <a:p>
            <a:pPr marL="0" indent="0" algn="ctr">
              <a:lnSpc>
                <a:spcPts val="5600"/>
              </a:lnSpc>
              <a:buNone/>
            </a:pPr>
            <a:r>
              <a:rPr lang="en-US" sz="4450" dirty="0">
                <a:solidFill>
                  <a:srgbClr val="FAEBEB"/>
                </a:solidFill>
                <a:latin typeface="Dela Gothic One" pitchFamily="34" charset="0"/>
                <a:ea typeface="Dela Gothic One" pitchFamily="34" charset="-122"/>
                <a:cs typeface="Dela Gothic One" pitchFamily="34" charset="-120"/>
              </a:rPr>
              <a:t>AI Fire Detection</a:t>
            </a:r>
            <a:endParaRPr lang="en-US" sz="4450" dirty="0"/>
          </a:p>
        </p:txBody>
      </p:sp>
      <p:sp>
        <p:nvSpPr>
          <p:cNvPr id="4" name="Text 1"/>
          <p:cNvSpPr/>
          <p:nvPr/>
        </p:nvSpPr>
        <p:spPr>
          <a:xfrm>
            <a:off x="6244709" y="3991689"/>
            <a:ext cx="7627382" cy="693420"/>
          </a:xfrm>
          <a:prstGeom prst="rect">
            <a:avLst/>
          </a:prstGeom>
          <a:noFill/>
          <a:ln/>
        </p:spPr>
        <p:txBody>
          <a:bodyPr wrap="square" lIns="0" tIns="0" rIns="0" bIns="0" rtlCol="0" anchor="t"/>
          <a:lstStyle/>
          <a:p>
            <a:pPr marL="0" indent="0" algn="ctr">
              <a:lnSpc>
                <a:spcPts val="2700"/>
              </a:lnSpc>
              <a:buNone/>
            </a:pPr>
            <a:r>
              <a:rPr lang="en-US" sz="1700" dirty="0">
                <a:solidFill>
                  <a:srgbClr val="FFE5E5"/>
                </a:solidFill>
                <a:latin typeface="DM Sans" pitchFamily="34" charset="0"/>
                <a:ea typeface="DM Sans" pitchFamily="34" charset="-122"/>
                <a:cs typeface="DM Sans" pitchFamily="34" charset="-120"/>
              </a:rPr>
              <a:t>An End-to-End Project: Deep Learning for Image Classification and Web Deployment</a:t>
            </a:r>
            <a:endParaRPr lang="en-US" sz="1700" dirty="0"/>
          </a:p>
        </p:txBody>
      </p:sp>
      <p:sp>
        <p:nvSpPr>
          <p:cNvPr id="5" name="Text 2"/>
          <p:cNvSpPr/>
          <p:nvPr/>
        </p:nvSpPr>
        <p:spPr>
          <a:xfrm>
            <a:off x="6244709" y="4928830"/>
            <a:ext cx="7627382" cy="346710"/>
          </a:xfrm>
          <a:prstGeom prst="rect">
            <a:avLst/>
          </a:prstGeom>
          <a:noFill/>
          <a:ln/>
        </p:spPr>
        <p:txBody>
          <a:bodyPr wrap="none" lIns="0" tIns="0" rIns="0" bIns="0" rtlCol="0" anchor="t"/>
          <a:lstStyle/>
          <a:p>
            <a:pPr marL="0" indent="0" algn="ctr">
              <a:lnSpc>
                <a:spcPts val="2700"/>
              </a:lnSpc>
              <a:buNone/>
            </a:pPr>
            <a:r>
              <a:rPr lang="en-US" sz="1700" dirty="0">
                <a:solidFill>
                  <a:srgbClr val="FFE5E5"/>
                </a:solidFill>
                <a:latin typeface="DM Sans" pitchFamily="34" charset="0"/>
                <a:ea typeface="DM Sans" pitchFamily="34" charset="-122"/>
                <a:cs typeface="DM Sans" pitchFamily="34" charset="-120"/>
              </a:rPr>
              <a:t>Presented by: Ali Ashraf</a:t>
            </a:r>
            <a:endParaRPr lang="en-US" sz="1700" dirty="0"/>
          </a:p>
        </p:txBody>
      </p:sp>
      <p:sp>
        <p:nvSpPr>
          <p:cNvPr id="10" name="Rectangle 9">
            <a:extLst>
              <a:ext uri="{FF2B5EF4-FFF2-40B4-BE49-F238E27FC236}">
                <a16:creationId xmlns:a16="http://schemas.microsoft.com/office/drawing/2014/main" id="{1B01C38E-5A6F-B950-FA97-BA516D1FC0C5}"/>
              </a:ext>
            </a:extLst>
          </p:cNvPr>
          <p:cNvSpPr/>
          <p:nvPr/>
        </p:nvSpPr>
        <p:spPr>
          <a:xfrm>
            <a:off x="11750400" y="6652800"/>
            <a:ext cx="2800800" cy="1468800"/>
          </a:xfrm>
          <a:prstGeom prst="rect">
            <a:avLst/>
          </a:prstGeom>
          <a:solidFill>
            <a:srgbClr val="01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978473" y="564713"/>
            <a:ext cx="6673453" cy="661154"/>
          </a:xfrm>
          <a:prstGeom prst="rect">
            <a:avLst/>
          </a:prstGeom>
          <a:noFill/>
          <a:ln/>
        </p:spPr>
        <p:txBody>
          <a:bodyPr wrap="none" lIns="0" tIns="0" rIns="0" bIns="0" rtlCol="0" anchor="t"/>
          <a:lstStyle/>
          <a:p>
            <a:pPr marL="0" indent="0" algn="ctr">
              <a:lnSpc>
                <a:spcPts val="5200"/>
              </a:lnSpc>
              <a:buNone/>
            </a:pPr>
            <a:r>
              <a:rPr lang="en-US" sz="4150" dirty="0">
                <a:solidFill>
                  <a:srgbClr val="FAEBEB"/>
                </a:solidFill>
                <a:latin typeface="Dela Gothic One" pitchFamily="34" charset="0"/>
                <a:ea typeface="Dela Gothic One" pitchFamily="34" charset="-122"/>
                <a:cs typeface="Dela Gothic One" pitchFamily="34" charset="-120"/>
              </a:rPr>
              <a:t>Presentation Agenda</a:t>
            </a:r>
            <a:endParaRPr lang="en-US" sz="4150" dirty="0"/>
          </a:p>
        </p:txBody>
      </p:sp>
      <p:sp>
        <p:nvSpPr>
          <p:cNvPr id="3" name="Shape 1"/>
          <p:cNvSpPr/>
          <p:nvPr/>
        </p:nvSpPr>
        <p:spPr>
          <a:xfrm>
            <a:off x="703540" y="1929289"/>
            <a:ext cx="6511171" cy="1057037"/>
          </a:xfrm>
          <a:prstGeom prst="roundRect">
            <a:avLst>
              <a:gd name="adj" fmla="val 10381"/>
            </a:avLst>
          </a:prstGeom>
          <a:solidFill>
            <a:srgbClr val="000000">
              <a:alpha val="95000"/>
            </a:srgbClr>
          </a:solidFill>
          <a:ln/>
        </p:spPr>
        <p:txBody>
          <a:bodyPr/>
          <a:lstStyle/>
          <a:p>
            <a:endParaRPr lang="en-US"/>
          </a:p>
        </p:txBody>
      </p:sp>
      <p:sp>
        <p:nvSpPr>
          <p:cNvPr id="4" name="Shape 2"/>
          <p:cNvSpPr/>
          <p:nvPr/>
        </p:nvSpPr>
        <p:spPr>
          <a:xfrm>
            <a:off x="703540" y="1906429"/>
            <a:ext cx="6511171" cy="91440"/>
          </a:xfrm>
          <a:prstGeom prst="roundRect">
            <a:avLst>
              <a:gd name="adj" fmla="val 92335"/>
            </a:avLst>
          </a:prstGeom>
          <a:solidFill>
            <a:srgbClr val="C91313"/>
          </a:solidFill>
          <a:ln/>
        </p:spPr>
        <p:txBody>
          <a:bodyPr/>
          <a:lstStyle/>
          <a:p>
            <a:endParaRPr lang="en-US"/>
          </a:p>
        </p:txBody>
      </p:sp>
      <p:sp>
        <p:nvSpPr>
          <p:cNvPr id="5" name="Shape 3"/>
          <p:cNvSpPr/>
          <p:nvPr/>
        </p:nvSpPr>
        <p:spPr>
          <a:xfrm>
            <a:off x="3657540" y="1627822"/>
            <a:ext cx="603052" cy="603052"/>
          </a:xfrm>
          <a:prstGeom prst="roundRect">
            <a:avLst>
              <a:gd name="adj" fmla="val 151629"/>
            </a:avLst>
          </a:prstGeom>
          <a:solidFill>
            <a:srgbClr val="C91313"/>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3838396" y="1778556"/>
            <a:ext cx="241221" cy="301466"/>
          </a:xfrm>
          <a:prstGeom prst="rect">
            <a:avLst/>
          </a:prstGeom>
        </p:spPr>
      </p:pic>
      <p:sp>
        <p:nvSpPr>
          <p:cNvPr id="7" name="Text 4"/>
          <p:cNvSpPr/>
          <p:nvPr/>
        </p:nvSpPr>
        <p:spPr>
          <a:xfrm>
            <a:off x="927378" y="2431852"/>
            <a:ext cx="5088136" cy="330637"/>
          </a:xfrm>
          <a:prstGeom prst="rect">
            <a:avLst/>
          </a:prstGeom>
          <a:noFill/>
          <a:ln/>
        </p:spPr>
        <p:txBody>
          <a:bodyPr wrap="none" lIns="0" tIns="0" rIns="0" bIns="0" rtlCol="0" anchor="t"/>
          <a:lstStyle/>
          <a:p>
            <a:pPr marL="0" indent="0" algn="l">
              <a:lnSpc>
                <a:spcPts val="2600"/>
              </a:lnSpc>
              <a:buNone/>
            </a:pPr>
            <a:r>
              <a:rPr lang="en-US" sz="2050" dirty="0">
                <a:solidFill>
                  <a:srgbClr val="FFE5E5"/>
                </a:solidFill>
                <a:latin typeface="Dela Gothic One" pitchFamily="34" charset="0"/>
                <a:ea typeface="Dela Gothic One" pitchFamily="34" charset="-122"/>
                <a:cs typeface="Dela Gothic One" pitchFamily="34" charset="-120"/>
              </a:rPr>
              <a:t>Introduction: Problem &amp; Solution</a:t>
            </a:r>
            <a:endParaRPr lang="en-US" sz="2050" dirty="0"/>
          </a:p>
        </p:txBody>
      </p:sp>
      <p:sp>
        <p:nvSpPr>
          <p:cNvPr id="8" name="Shape 5"/>
          <p:cNvSpPr/>
          <p:nvPr/>
        </p:nvSpPr>
        <p:spPr>
          <a:xfrm>
            <a:off x="7415689" y="1929289"/>
            <a:ext cx="6511171" cy="1057037"/>
          </a:xfrm>
          <a:prstGeom prst="roundRect">
            <a:avLst>
              <a:gd name="adj" fmla="val 10381"/>
            </a:avLst>
          </a:prstGeom>
          <a:solidFill>
            <a:srgbClr val="000000">
              <a:alpha val="95000"/>
            </a:srgbClr>
          </a:solidFill>
          <a:ln/>
        </p:spPr>
        <p:txBody>
          <a:bodyPr/>
          <a:lstStyle/>
          <a:p>
            <a:endParaRPr lang="en-US"/>
          </a:p>
        </p:txBody>
      </p:sp>
      <p:sp>
        <p:nvSpPr>
          <p:cNvPr id="9" name="Shape 6"/>
          <p:cNvSpPr/>
          <p:nvPr/>
        </p:nvSpPr>
        <p:spPr>
          <a:xfrm>
            <a:off x="7415689" y="1906429"/>
            <a:ext cx="6511171" cy="91440"/>
          </a:xfrm>
          <a:prstGeom prst="roundRect">
            <a:avLst>
              <a:gd name="adj" fmla="val 92335"/>
            </a:avLst>
          </a:prstGeom>
          <a:solidFill>
            <a:srgbClr val="C91313"/>
          </a:solidFill>
          <a:ln/>
        </p:spPr>
        <p:txBody>
          <a:bodyPr/>
          <a:lstStyle/>
          <a:p>
            <a:endParaRPr lang="en-US"/>
          </a:p>
        </p:txBody>
      </p:sp>
      <p:sp>
        <p:nvSpPr>
          <p:cNvPr id="10" name="Shape 7"/>
          <p:cNvSpPr/>
          <p:nvPr/>
        </p:nvSpPr>
        <p:spPr>
          <a:xfrm>
            <a:off x="10369689" y="1627822"/>
            <a:ext cx="603052" cy="603052"/>
          </a:xfrm>
          <a:prstGeom prst="roundRect">
            <a:avLst>
              <a:gd name="adj" fmla="val 151629"/>
            </a:avLst>
          </a:prstGeom>
          <a:solidFill>
            <a:srgbClr val="C91313"/>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10550545" y="1778556"/>
            <a:ext cx="241221" cy="301466"/>
          </a:xfrm>
          <a:prstGeom prst="rect">
            <a:avLst/>
          </a:prstGeom>
        </p:spPr>
      </p:pic>
      <p:sp>
        <p:nvSpPr>
          <p:cNvPr id="12" name="Text 8"/>
          <p:cNvSpPr/>
          <p:nvPr/>
        </p:nvSpPr>
        <p:spPr>
          <a:xfrm>
            <a:off x="7639526" y="2431852"/>
            <a:ext cx="2922865" cy="330637"/>
          </a:xfrm>
          <a:prstGeom prst="rect">
            <a:avLst/>
          </a:prstGeom>
          <a:noFill/>
          <a:ln/>
        </p:spPr>
        <p:txBody>
          <a:bodyPr wrap="none" lIns="0" tIns="0" rIns="0" bIns="0" rtlCol="0" anchor="t"/>
          <a:lstStyle/>
          <a:p>
            <a:pPr marL="0" indent="0" algn="l">
              <a:lnSpc>
                <a:spcPts val="2600"/>
              </a:lnSpc>
              <a:buNone/>
            </a:pPr>
            <a:r>
              <a:rPr lang="en-US" sz="2050" dirty="0">
                <a:solidFill>
                  <a:srgbClr val="FFE5E5"/>
                </a:solidFill>
                <a:latin typeface="Dela Gothic One" pitchFamily="34" charset="0"/>
                <a:ea typeface="Dela Gothic One" pitchFamily="34" charset="-122"/>
                <a:cs typeface="Dela Gothic One" pitchFamily="34" charset="-120"/>
              </a:rPr>
              <a:t>Project Objectives</a:t>
            </a:r>
            <a:endParaRPr lang="en-US" sz="2050" dirty="0"/>
          </a:p>
        </p:txBody>
      </p:sp>
      <p:sp>
        <p:nvSpPr>
          <p:cNvPr id="13" name="Shape 9"/>
          <p:cNvSpPr/>
          <p:nvPr/>
        </p:nvSpPr>
        <p:spPr>
          <a:xfrm>
            <a:off x="703540" y="3488769"/>
            <a:ext cx="6511171" cy="1057037"/>
          </a:xfrm>
          <a:prstGeom prst="roundRect">
            <a:avLst>
              <a:gd name="adj" fmla="val 10381"/>
            </a:avLst>
          </a:prstGeom>
          <a:solidFill>
            <a:srgbClr val="000000">
              <a:alpha val="95000"/>
            </a:srgbClr>
          </a:solidFill>
          <a:ln/>
        </p:spPr>
        <p:txBody>
          <a:bodyPr/>
          <a:lstStyle/>
          <a:p>
            <a:endParaRPr lang="en-US"/>
          </a:p>
        </p:txBody>
      </p:sp>
      <p:sp>
        <p:nvSpPr>
          <p:cNvPr id="14" name="Shape 10"/>
          <p:cNvSpPr/>
          <p:nvPr/>
        </p:nvSpPr>
        <p:spPr>
          <a:xfrm>
            <a:off x="703540" y="3465909"/>
            <a:ext cx="6511171" cy="91440"/>
          </a:xfrm>
          <a:prstGeom prst="roundRect">
            <a:avLst>
              <a:gd name="adj" fmla="val 92335"/>
            </a:avLst>
          </a:prstGeom>
          <a:solidFill>
            <a:srgbClr val="C91313"/>
          </a:solidFill>
          <a:ln/>
        </p:spPr>
        <p:txBody>
          <a:bodyPr/>
          <a:lstStyle/>
          <a:p>
            <a:endParaRPr lang="en-US"/>
          </a:p>
        </p:txBody>
      </p:sp>
      <p:sp>
        <p:nvSpPr>
          <p:cNvPr id="15" name="Shape 11"/>
          <p:cNvSpPr/>
          <p:nvPr/>
        </p:nvSpPr>
        <p:spPr>
          <a:xfrm>
            <a:off x="3657540" y="3187303"/>
            <a:ext cx="603052" cy="603052"/>
          </a:xfrm>
          <a:prstGeom prst="roundRect">
            <a:avLst>
              <a:gd name="adj" fmla="val 151629"/>
            </a:avLst>
          </a:prstGeom>
          <a:solidFill>
            <a:srgbClr val="C91313"/>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3838396" y="3338036"/>
            <a:ext cx="241221" cy="301466"/>
          </a:xfrm>
          <a:prstGeom prst="rect">
            <a:avLst/>
          </a:prstGeom>
        </p:spPr>
      </p:pic>
      <p:sp>
        <p:nvSpPr>
          <p:cNvPr id="17" name="Text 12"/>
          <p:cNvSpPr/>
          <p:nvPr/>
        </p:nvSpPr>
        <p:spPr>
          <a:xfrm>
            <a:off x="927378" y="3991332"/>
            <a:ext cx="3274338" cy="330637"/>
          </a:xfrm>
          <a:prstGeom prst="rect">
            <a:avLst/>
          </a:prstGeom>
          <a:noFill/>
          <a:ln/>
        </p:spPr>
        <p:txBody>
          <a:bodyPr wrap="none" lIns="0" tIns="0" rIns="0" bIns="0" rtlCol="0" anchor="t"/>
          <a:lstStyle/>
          <a:p>
            <a:pPr marL="0" indent="0" algn="l">
              <a:lnSpc>
                <a:spcPts val="2600"/>
              </a:lnSpc>
              <a:buNone/>
            </a:pPr>
            <a:r>
              <a:rPr lang="en-US" sz="2050" dirty="0">
                <a:solidFill>
                  <a:srgbClr val="FFE5E5"/>
                </a:solidFill>
                <a:latin typeface="Dela Gothic One" pitchFamily="34" charset="0"/>
                <a:ea typeface="Dela Gothic One" pitchFamily="34" charset="-122"/>
                <a:cs typeface="Dela Gothic One" pitchFamily="34" charset="-120"/>
              </a:rPr>
              <a:t>Tools &amp; Technologies</a:t>
            </a:r>
            <a:endParaRPr lang="en-US" sz="2050" dirty="0"/>
          </a:p>
        </p:txBody>
      </p:sp>
      <p:sp>
        <p:nvSpPr>
          <p:cNvPr id="18" name="Shape 13"/>
          <p:cNvSpPr/>
          <p:nvPr/>
        </p:nvSpPr>
        <p:spPr>
          <a:xfrm>
            <a:off x="7415689" y="3488769"/>
            <a:ext cx="6511171" cy="1057037"/>
          </a:xfrm>
          <a:prstGeom prst="roundRect">
            <a:avLst>
              <a:gd name="adj" fmla="val 10381"/>
            </a:avLst>
          </a:prstGeom>
          <a:solidFill>
            <a:srgbClr val="000000">
              <a:alpha val="95000"/>
            </a:srgbClr>
          </a:solidFill>
          <a:ln/>
        </p:spPr>
        <p:txBody>
          <a:bodyPr/>
          <a:lstStyle/>
          <a:p>
            <a:endParaRPr lang="en-US"/>
          </a:p>
        </p:txBody>
      </p:sp>
      <p:sp>
        <p:nvSpPr>
          <p:cNvPr id="19" name="Shape 14"/>
          <p:cNvSpPr/>
          <p:nvPr/>
        </p:nvSpPr>
        <p:spPr>
          <a:xfrm>
            <a:off x="7415689" y="3465909"/>
            <a:ext cx="6511171" cy="91440"/>
          </a:xfrm>
          <a:prstGeom prst="roundRect">
            <a:avLst>
              <a:gd name="adj" fmla="val 92335"/>
            </a:avLst>
          </a:prstGeom>
          <a:solidFill>
            <a:srgbClr val="C91313"/>
          </a:solidFill>
          <a:ln/>
        </p:spPr>
        <p:txBody>
          <a:bodyPr/>
          <a:lstStyle/>
          <a:p>
            <a:endParaRPr lang="en-US"/>
          </a:p>
        </p:txBody>
      </p:sp>
      <p:sp>
        <p:nvSpPr>
          <p:cNvPr id="20" name="Shape 15"/>
          <p:cNvSpPr/>
          <p:nvPr/>
        </p:nvSpPr>
        <p:spPr>
          <a:xfrm>
            <a:off x="10369689" y="3187303"/>
            <a:ext cx="603052" cy="603052"/>
          </a:xfrm>
          <a:prstGeom prst="roundRect">
            <a:avLst>
              <a:gd name="adj" fmla="val 151629"/>
            </a:avLst>
          </a:prstGeom>
          <a:solidFill>
            <a:srgbClr val="C91313"/>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10550545" y="3338036"/>
            <a:ext cx="241221" cy="301466"/>
          </a:xfrm>
          <a:prstGeom prst="rect">
            <a:avLst/>
          </a:prstGeom>
        </p:spPr>
      </p:pic>
      <p:sp>
        <p:nvSpPr>
          <p:cNvPr id="22" name="Text 16"/>
          <p:cNvSpPr/>
          <p:nvPr/>
        </p:nvSpPr>
        <p:spPr>
          <a:xfrm>
            <a:off x="7639526" y="3991332"/>
            <a:ext cx="2781181" cy="330637"/>
          </a:xfrm>
          <a:prstGeom prst="rect">
            <a:avLst/>
          </a:prstGeom>
          <a:noFill/>
          <a:ln/>
        </p:spPr>
        <p:txBody>
          <a:bodyPr wrap="none" lIns="0" tIns="0" rIns="0" bIns="0" rtlCol="0" anchor="t"/>
          <a:lstStyle/>
          <a:p>
            <a:pPr marL="0" indent="0" algn="l">
              <a:lnSpc>
                <a:spcPts val="2600"/>
              </a:lnSpc>
              <a:buNone/>
            </a:pPr>
            <a:r>
              <a:rPr lang="en-US" sz="2050" dirty="0">
                <a:solidFill>
                  <a:srgbClr val="FFE5E5"/>
                </a:solidFill>
                <a:latin typeface="Dela Gothic One" pitchFamily="34" charset="0"/>
                <a:ea typeface="Dela Gothic One" pitchFamily="34" charset="-122"/>
                <a:cs typeface="Dela Gothic One" pitchFamily="34" charset="-120"/>
              </a:rPr>
              <a:t>Dataset Overview</a:t>
            </a:r>
            <a:endParaRPr lang="en-US" sz="2050" dirty="0"/>
          </a:p>
        </p:txBody>
      </p:sp>
      <p:sp>
        <p:nvSpPr>
          <p:cNvPr id="23" name="Shape 17"/>
          <p:cNvSpPr/>
          <p:nvPr/>
        </p:nvSpPr>
        <p:spPr>
          <a:xfrm>
            <a:off x="703540" y="5048250"/>
            <a:ext cx="6511171" cy="1057037"/>
          </a:xfrm>
          <a:prstGeom prst="roundRect">
            <a:avLst>
              <a:gd name="adj" fmla="val 10381"/>
            </a:avLst>
          </a:prstGeom>
          <a:solidFill>
            <a:srgbClr val="000000">
              <a:alpha val="95000"/>
            </a:srgbClr>
          </a:solidFill>
          <a:ln/>
        </p:spPr>
        <p:txBody>
          <a:bodyPr/>
          <a:lstStyle/>
          <a:p>
            <a:endParaRPr lang="en-US"/>
          </a:p>
        </p:txBody>
      </p:sp>
      <p:sp>
        <p:nvSpPr>
          <p:cNvPr id="24" name="Shape 18"/>
          <p:cNvSpPr/>
          <p:nvPr/>
        </p:nvSpPr>
        <p:spPr>
          <a:xfrm>
            <a:off x="703540" y="5025390"/>
            <a:ext cx="6511171" cy="91440"/>
          </a:xfrm>
          <a:prstGeom prst="roundRect">
            <a:avLst>
              <a:gd name="adj" fmla="val 92335"/>
            </a:avLst>
          </a:prstGeom>
          <a:solidFill>
            <a:srgbClr val="C91313"/>
          </a:solidFill>
          <a:ln/>
        </p:spPr>
        <p:txBody>
          <a:bodyPr/>
          <a:lstStyle/>
          <a:p>
            <a:endParaRPr lang="en-US"/>
          </a:p>
        </p:txBody>
      </p:sp>
      <p:sp>
        <p:nvSpPr>
          <p:cNvPr id="25" name="Shape 19"/>
          <p:cNvSpPr/>
          <p:nvPr/>
        </p:nvSpPr>
        <p:spPr>
          <a:xfrm>
            <a:off x="3657540" y="4746784"/>
            <a:ext cx="603052" cy="603052"/>
          </a:xfrm>
          <a:prstGeom prst="roundRect">
            <a:avLst>
              <a:gd name="adj" fmla="val 151629"/>
            </a:avLst>
          </a:prstGeom>
          <a:solidFill>
            <a:srgbClr val="C91313"/>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3838396" y="4927640"/>
            <a:ext cx="241221" cy="241221"/>
          </a:xfrm>
          <a:prstGeom prst="rect">
            <a:avLst/>
          </a:prstGeom>
        </p:spPr>
      </p:pic>
      <p:sp>
        <p:nvSpPr>
          <p:cNvPr id="27" name="Text 20"/>
          <p:cNvSpPr/>
          <p:nvPr/>
        </p:nvSpPr>
        <p:spPr>
          <a:xfrm>
            <a:off x="927378" y="5550813"/>
            <a:ext cx="2675334" cy="330637"/>
          </a:xfrm>
          <a:prstGeom prst="rect">
            <a:avLst/>
          </a:prstGeom>
          <a:noFill/>
          <a:ln/>
        </p:spPr>
        <p:txBody>
          <a:bodyPr wrap="none" lIns="0" tIns="0" rIns="0" bIns="0" rtlCol="0" anchor="t"/>
          <a:lstStyle/>
          <a:p>
            <a:pPr marL="0" indent="0" algn="l">
              <a:lnSpc>
                <a:spcPts val="2600"/>
              </a:lnSpc>
              <a:buNone/>
            </a:pPr>
            <a:r>
              <a:rPr lang="en-US" sz="2050" dirty="0">
                <a:solidFill>
                  <a:srgbClr val="FFE5E5"/>
                </a:solidFill>
                <a:latin typeface="Dela Gothic One" pitchFamily="34" charset="0"/>
                <a:ea typeface="Dela Gothic One" pitchFamily="34" charset="-122"/>
                <a:cs typeface="Dela Gothic One" pitchFamily="34" charset="-120"/>
              </a:rPr>
              <a:t>Project Workflow</a:t>
            </a:r>
            <a:endParaRPr lang="en-US" sz="2050" dirty="0"/>
          </a:p>
        </p:txBody>
      </p:sp>
      <p:sp>
        <p:nvSpPr>
          <p:cNvPr id="28" name="Shape 21"/>
          <p:cNvSpPr/>
          <p:nvPr/>
        </p:nvSpPr>
        <p:spPr>
          <a:xfrm>
            <a:off x="7415689" y="5048250"/>
            <a:ext cx="6511171" cy="1057037"/>
          </a:xfrm>
          <a:prstGeom prst="roundRect">
            <a:avLst>
              <a:gd name="adj" fmla="val 10381"/>
            </a:avLst>
          </a:prstGeom>
          <a:solidFill>
            <a:srgbClr val="000000">
              <a:alpha val="95000"/>
            </a:srgbClr>
          </a:solidFill>
          <a:ln/>
        </p:spPr>
        <p:txBody>
          <a:bodyPr/>
          <a:lstStyle/>
          <a:p>
            <a:endParaRPr lang="en-US"/>
          </a:p>
        </p:txBody>
      </p:sp>
      <p:sp>
        <p:nvSpPr>
          <p:cNvPr id="29" name="Shape 22"/>
          <p:cNvSpPr/>
          <p:nvPr/>
        </p:nvSpPr>
        <p:spPr>
          <a:xfrm>
            <a:off x="7415689" y="5025390"/>
            <a:ext cx="6511171" cy="91440"/>
          </a:xfrm>
          <a:prstGeom prst="roundRect">
            <a:avLst>
              <a:gd name="adj" fmla="val 92335"/>
            </a:avLst>
          </a:prstGeom>
          <a:solidFill>
            <a:srgbClr val="C91313"/>
          </a:solidFill>
          <a:ln/>
        </p:spPr>
        <p:txBody>
          <a:bodyPr/>
          <a:lstStyle/>
          <a:p>
            <a:endParaRPr lang="en-US"/>
          </a:p>
        </p:txBody>
      </p:sp>
      <p:sp>
        <p:nvSpPr>
          <p:cNvPr id="30" name="Shape 23"/>
          <p:cNvSpPr/>
          <p:nvPr/>
        </p:nvSpPr>
        <p:spPr>
          <a:xfrm>
            <a:off x="10369689" y="4746784"/>
            <a:ext cx="603052" cy="603052"/>
          </a:xfrm>
          <a:prstGeom prst="roundRect">
            <a:avLst>
              <a:gd name="adj" fmla="val 151629"/>
            </a:avLst>
          </a:prstGeom>
          <a:solidFill>
            <a:srgbClr val="C91313"/>
          </a:solidFill>
          <a:ln/>
        </p:spPr>
        <p:txBody>
          <a:bodyPr/>
          <a:lstStyle/>
          <a:p>
            <a:endParaRPr lang="en-US"/>
          </a:p>
        </p:txBody>
      </p:sp>
      <p:pic>
        <p:nvPicPr>
          <p:cNvPr id="31" name="Image 5" descr="preencoded.png"/>
          <p:cNvPicPr>
            <a:picLocks noChangeAspect="1"/>
          </p:cNvPicPr>
          <p:nvPr/>
        </p:nvPicPr>
        <p:blipFill>
          <a:blip r:embed="rId8"/>
          <a:stretch>
            <a:fillRect/>
          </a:stretch>
        </p:blipFill>
        <p:spPr>
          <a:xfrm>
            <a:off x="10550545" y="4897517"/>
            <a:ext cx="241221" cy="301466"/>
          </a:xfrm>
          <a:prstGeom prst="rect">
            <a:avLst/>
          </a:prstGeom>
        </p:spPr>
      </p:pic>
      <p:sp>
        <p:nvSpPr>
          <p:cNvPr id="32" name="Text 24"/>
          <p:cNvSpPr/>
          <p:nvPr/>
        </p:nvSpPr>
        <p:spPr>
          <a:xfrm>
            <a:off x="7639526" y="5550813"/>
            <a:ext cx="3907393" cy="330637"/>
          </a:xfrm>
          <a:prstGeom prst="rect">
            <a:avLst/>
          </a:prstGeom>
          <a:noFill/>
          <a:ln/>
        </p:spPr>
        <p:txBody>
          <a:bodyPr wrap="none" lIns="0" tIns="0" rIns="0" bIns="0" rtlCol="0" anchor="t"/>
          <a:lstStyle/>
          <a:p>
            <a:pPr marL="0" indent="0" algn="l">
              <a:lnSpc>
                <a:spcPts val="2600"/>
              </a:lnSpc>
              <a:buNone/>
            </a:pPr>
            <a:r>
              <a:rPr lang="en-US" sz="2050" dirty="0">
                <a:solidFill>
                  <a:srgbClr val="FFE5E5"/>
                </a:solidFill>
                <a:latin typeface="Dela Gothic One" pitchFamily="34" charset="0"/>
                <a:ea typeface="Dela Gothic One" pitchFamily="34" charset="-122"/>
                <a:cs typeface="Dela Gothic One" pitchFamily="34" charset="-120"/>
              </a:rPr>
              <a:t>Model Building &amp; Training</a:t>
            </a:r>
            <a:endParaRPr lang="en-US" sz="2050" dirty="0"/>
          </a:p>
        </p:txBody>
      </p:sp>
      <p:sp>
        <p:nvSpPr>
          <p:cNvPr id="33" name="Shape 25"/>
          <p:cNvSpPr/>
          <p:nvPr/>
        </p:nvSpPr>
        <p:spPr>
          <a:xfrm>
            <a:off x="703540" y="6607731"/>
            <a:ext cx="6511171" cy="1057037"/>
          </a:xfrm>
          <a:prstGeom prst="roundRect">
            <a:avLst>
              <a:gd name="adj" fmla="val 10381"/>
            </a:avLst>
          </a:prstGeom>
          <a:solidFill>
            <a:srgbClr val="000000">
              <a:alpha val="95000"/>
            </a:srgbClr>
          </a:solidFill>
          <a:ln/>
        </p:spPr>
        <p:txBody>
          <a:bodyPr/>
          <a:lstStyle/>
          <a:p>
            <a:endParaRPr lang="en-US"/>
          </a:p>
        </p:txBody>
      </p:sp>
      <p:sp>
        <p:nvSpPr>
          <p:cNvPr id="34" name="Shape 26"/>
          <p:cNvSpPr/>
          <p:nvPr/>
        </p:nvSpPr>
        <p:spPr>
          <a:xfrm>
            <a:off x="703540" y="6584871"/>
            <a:ext cx="6511171" cy="91440"/>
          </a:xfrm>
          <a:prstGeom prst="roundRect">
            <a:avLst>
              <a:gd name="adj" fmla="val 92335"/>
            </a:avLst>
          </a:prstGeom>
          <a:solidFill>
            <a:srgbClr val="C91313"/>
          </a:solidFill>
          <a:ln/>
        </p:spPr>
        <p:txBody>
          <a:bodyPr/>
          <a:lstStyle/>
          <a:p>
            <a:endParaRPr lang="en-US"/>
          </a:p>
        </p:txBody>
      </p:sp>
      <p:sp>
        <p:nvSpPr>
          <p:cNvPr id="35" name="Shape 27"/>
          <p:cNvSpPr/>
          <p:nvPr/>
        </p:nvSpPr>
        <p:spPr>
          <a:xfrm>
            <a:off x="3657540" y="6306264"/>
            <a:ext cx="603052" cy="603052"/>
          </a:xfrm>
          <a:prstGeom prst="roundRect">
            <a:avLst>
              <a:gd name="adj" fmla="val 151629"/>
            </a:avLst>
          </a:prstGeom>
          <a:solidFill>
            <a:srgbClr val="C91313"/>
          </a:solidFill>
          <a:ln/>
        </p:spPr>
        <p:txBody>
          <a:bodyPr/>
          <a:lstStyle/>
          <a:p>
            <a:endParaRPr lang="en-US"/>
          </a:p>
        </p:txBody>
      </p:sp>
      <p:pic>
        <p:nvPicPr>
          <p:cNvPr id="36" name="Image 6" descr="preencoded.png"/>
          <p:cNvPicPr>
            <a:picLocks noChangeAspect="1"/>
          </p:cNvPicPr>
          <p:nvPr/>
        </p:nvPicPr>
        <p:blipFill>
          <a:blip r:embed="rId9"/>
          <a:stretch>
            <a:fillRect/>
          </a:stretch>
        </p:blipFill>
        <p:spPr>
          <a:xfrm>
            <a:off x="3838396" y="6456998"/>
            <a:ext cx="241221" cy="301466"/>
          </a:xfrm>
          <a:prstGeom prst="rect">
            <a:avLst/>
          </a:prstGeom>
        </p:spPr>
      </p:pic>
      <p:sp>
        <p:nvSpPr>
          <p:cNvPr id="37" name="Text 28"/>
          <p:cNvSpPr/>
          <p:nvPr/>
        </p:nvSpPr>
        <p:spPr>
          <a:xfrm>
            <a:off x="927378" y="7110293"/>
            <a:ext cx="3178850" cy="330637"/>
          </a:xfrm>
          <a:prstGeom prst="rect">
            <a:avLst/>
          </a:prstGeom>
          <a:noFill/>
          <a:ln/>
        </p:spPr>
        <p:txBody>
          <a:bodyPr wrap="none" lIns="0" tIns="0" rIns="0" bIns="0" rtlCol="0" anchor="t"/>
          <a:lstStyle/>
          <a:p>
            <a:pPr marL="0" indent="0" algn="l">
              <a:lnSpc>
                <a:spcPts val="2600"/>
              </a:lnSpc>
              <a:buNone/>
            </a:pPr>
            <a:r>
              <a:rPr lang="en-US" sz="2050" dirty="0">
                <a:solidFill>
                  <a:srgbClr val="FFE5E5"/>
                </a:solidFill>
                <a:latin typeface="Dela Gothic One" pitchFamily="34" charset="0"/>
                <a:ea typeface="Dela Gothic One" pitchFamily="34" charset="-122"/>
                <a:cs typeface="Dela Gothic One" pitchFamily="34" charset="-120"/>
              </a:rPr>
              <a:t>Results &amp; Evaluation</a:t>
            </a:r>
            <a:endParaRPr lang="en-US" sz="2050" dirty="0"/>
          </a:p>
        </p:txBody>
      </p:sp>
      <p:sp>
        <p:nvSpPr>
          <p:cNvPr id="38" name="Shape 29"/>
          <p:cNvSpPr/>
          <p:nvPr/>
        </p:nvSpPr>
        <p:spPr>
          <a:xfrm>
            <a:off x="7415689" y="6607731"/>
            <a:ext cx="6511171" cy="1057037"/>
          </a:xfrm>
          <a:prstGeom prst="roundRect">
            <a:avLst>
              <a:gd name="adj" fmla="val 10381"/>
            </a:avLst>
          </a:prstGeom>
          <a:solidFill>
            <a:srgbClr val="000000">
              <a:alpha val="95000"/>
            </a:srgbClr>
          </a:solidFill>
          <a:ln/>
        </p:spPr>
        <p:txBody>
          <a:bodyPr/>
          <a:lstStyle/>
          <a:p>
            <a:endParaRPr lang="en-US"/>
          </a:p>
        </p:txBody>
      </p:sp>
      <p:sp>
        <p:nvSpPr>
          <p:cNvPr id="39" name="Shape 30"/>
          <p:cNvSpPr/>
          <p:nvPr/>
        </p:nvSpPr>
        <p:spPr>
          <a:xfrm>
            <a:off x="7415689" y="6584871"/>
            <a:ext cx="6511171" cy="91440"/>
          </a:xfrm>
          <a:prstGeom prst="roundRect">
            <a:avLst>
              <a:gd name="adj" fmla="val 92335"/>
            </a:avLst>
          </a:prstGeom>
          <a:solidFill>
            <a:srgbClr val="C91313"/>
          </a:solidFill>
          <a:ln/>
        </p:spPr>
        <p:txBody>
          <a:bodyPr/>
          <a:lstStyle/>
          <a:p>
            <a:endParaRPr lang="en-US"/>
          </a:p>
        </p:txBody>
      </p:sp>
      <p:sp>
        <p:nvSpPr>
          <p:cNvPr id="40" name="Shape 31"/>
          <p:cNvSpPr/>
          <p:nvPr/>
        </p:nvSpPr>
        <p:spPr>
          <a:xfrm>
            <a:off x="10369689" y="6306264"/>
            <a:ext cx="603052" cy="603052"/>
          </a:xfrm>
          <a:prstGeom prst="roundRect">
            <a:avLst>
              <a:gd name="adj" fmla="val 151629"/>
            </a:avLst>
          </a:prstGeom>
          <a:solidFill>
            <a:srgbClr val="C91313"/>
          </a:solidFill>
          <a:ln/>
        </p:spPr>
        <p:txBody>
          <a:bodyPr/>
          <a:lstStyle/>
          <a:p>
            <a:endParaRPr lang="en-US"/>
          </a:p>
        </p:txBody>
      </p:sp>
      <p:pic>
        <p:nvPicPr>
          <p:cNvPr id="41" name="Image 7" descr="preencoded.png"/>
          <p:cNvPicPr>
            <a:picLocks noChangeAspect="1"/>
          </p:cNvPicPr>
          <p:nvPr/>
        </p:nvPicPr>
        <p:blipFill>
          <a:blip r:embed="rId10"/>
          <a:stretch>
            <a:fillRect/>
          </a:stretch>
        </p:blipFill>
        <p:spPr>
          <a:xfrm>
            <a:off x="10550545" y="6456998"/>
            <a:ext cx="241221" cy="301466"/>
          </a:xfrm>
          <a:prstGeom prst="rect">
            <a:avLst/>
          </a:prstGeom>
        </p:spPr>
      </p:pic>
      <p:sp>
        <p:nvSpPr>
          <p:cNvPr id="42" name="Text 32"/>
          <p:cNvSpPr/>
          <p:nvPr/>
        </p:nvSpPr>
        <p:spPr>
          <a:xfrm>
            <a:off x="7639526" y="7110293"/>
            <a:ext cx="3488531" cy="330637"/>
          </a:xfrm>
          <a:prstGeom prst="rect">
            <a:avLst/>
          </a:prstGeom>
          <a:noFill/>
          <a:ln/>
        </p:spPr>
        <p:txBody>
          <a:bodyPr wrap="none" lIns="0" tIns="0" rIns="0" bIns="0" rtlCol="0" anchor="t"/>
          <a:lstStyle/>
          <a:p>
            <a:pPr marL="0" indent="0" algn="l">
              <a:lnSpc>
                <a:spcPts val="2600"/>
              </a:lnSpc>
              <a:buNone/>
            </a:pPr>
            <a:r>
              <a:rPr lang="en-US" sz="2050" dirty="0">
                <a:solidFill>
                  <a:srgbClr val="FFE5E5"/>
                </a:solidFill>
                <a:latin typeface="Dela Gothic One" pitchFamily="34" charset="0"/>
                <a:ea typeface="Dela Gothic One" pitchFamily="34" charset="-122"/>
                <a:cs typeface="Dela Gothic One" pitchFamily="34" charset="-120"/>
              </a:rPr>
              <a:t>Live Application Demo</a:t>
            </a:r>
            <a:endParaRPr lang="en-US" sz="2050" dirty="0"/>
          </a:p>
        </p:txBody>
      </p:sp>
      <p:sp>
        <p:nvSpPr>
          <p:cNvPr id="43" name="Rectangle 42">
            <a:extLst>
              <a:ext uri="{FF2B5EF4-FFF2-40B4-BE49-F238E27FC236}">
                <a16:creationId xmlns:a16="http://schemas.microsoft.com/office/drawing/2014/main" id="{74AE13D6-C2A9-54BF-410C-E4F56F569F2A}"/>
              </a:ext>
            </a:extLst>
          </p:cNvPr>
          <p:cNvSpPr/>
          <p:nvPr/>
        </p:nvSpPr>
        <p:spPr>
          <a:xfrm>
            <a:off x="12614400" y="7524000"/>
            <a:ext cx="1944000" cy="6408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007989" y="544354"/>
            <a:ext cx="10614422" cy="651272"/>
          </a:xfrm>
          <a:prstGeom prst="rect">
            <a:avLst/>
          </a:prstGeom>
          <a:noFill/>
          <a:ln/>
        </p:spPr>
        <p:txBody>
          <a:bodyPr wrap="none" lIns="0" tIns="0" rIns="0" bIns="0" rtlCol="0" anchor="t"/>
          <a:lstStyle/>
          <a:p>
            <a:pPr marL="0" indent="0" algn="ctr">
              <a:lnSpc>
                <a:spcPts val="5100"/>
              </a:lnSpc>
              <a:buNone/>
            </a:pPr>
            <a:r>
              <a:rPr lang="en-US" sz="4100" dirty="0">
                <a:solidFill>
                  <a:srgbClr val="FAEBEB"/>
                </a:solidFill>
                <a:latin typeface="Dela Gothic One" pitchFamily="34" charset="0"/>
                <a:ea typeface="Dela Gothic One" pitchFamily="34" charset="-122"/>
                <a:cs typeface="Dela Gothic One" pitchFamily="34" charset="-120"/>
              </a:rPr>
              <a:t>Why Early Fire Detection is Crucial</a:t>
            </a:r>
            <a:endParaRPr lang="en-US" sz="4100" dirty="0"/>
          </a:p>
        </p:txBody>
      </p:sp>
      <p:sp>
        <p:nvSpPr>
          <p:cNvPr id="3" name="Text 1"/>
          <p:cNvSpPr/>
          <p:nvPr/>
        </p:nvSpPr>
        <p:spPr>
          <a:xfrm>
            <a:off x="692825" y="1670685"/>
            <a:ext cx="6380917" cy="1266825"/>
          </a:xfrm>
          <a:prstGeom prst="rect">
            <a:avLst/>
          </a:prstGeom>
          <a:noFill/>
          <a:ln/>
        </p:spPr>
        <p:txBody>
          <a:bodyPr wrap="square" lIns="0" tIns="0" rIns="0" bIns="0" rtlCol="0" anchor="t"/>
          <a:lstStyle/>
          <a:p>
            <a:pPr>
              <a:lnSpc>
                <a:spcPts val="2450"/>
              </a:lnSpc>
            </a:pPr>
            <a:r>
              <a:rPr lang="en-US" sz="1600" dirty="0">
                <a:solidFill>
                  <a:schemeClr val="bg1"/>
                </a:solidFill>
              </a:rPr>
              <a:t>Detecting fires early is very important to reduce their dangerous effects. Fires can spread quickly and seriously threaten people's safety, causing injuries, deaths, and forcing people to leave their homes.</a:t>
            </a:r>
            <a:endParaRPr lang="en-US" sz="1550" dirty="0">
              <a:solidFill>
                <a:schemeClr val="bg1"/>
              </a:solidFill>
            </a:endParaRPr>
          </a:p>
        </p:txBody>
      </p:sp>
      <p:sp>
        <p:nvSpPr>
          <p:cNvPr id="4" name="Text 2"/>
          <p:cNvSpPr/>
          <p:nvPr/>
        </p:nvSpPr>
        <p:spPr>
          <a:xfrm>
            <a:off x="692825" y="3115628"/>
            <a:ext cx="6380917" cy="633413"/>
          </a:xfrm>
          <a:prstGeom prst="rect">
            <a:avLst/>
          </a:prstGeom>
          <a:noFill/>
          <a:ln/>
        </p:spPr>
        <p:txBody>
          <a:bodyPr wrap="square" lIns="0" tIns="0" rIns="0" bIns="0" rtlCol="0" anchor="t"/>
          <a:lstStyle/>
          <a:p>
            <a:pPr marL="342900" indent="-342900" algn="l">
              <a:lnSpc>
                <a:spcPts val="2450"/>
              </a:lnSpc>
              <a:buSzPct val="100000"/>
              <a:buChar char="•"/>
            </a:pPr>
            <a:r>
              <a:rPr lang="en-US" sz="1550" b="1" dirty="0">
                <a:solidFill>
                  <a:srgbClr val="C91313"/>
                </a:solidFill>
                <a:latin typeface="DM Sans" pitchFamily="34" charset="0"/>
                <a:ea typeface="DM Sans" pitchFamily="34" charset="-122"/>
                <a:cs typeface="DM Sans" pitchFamily="34" charset="-120"/>
              </a:rPr>
              <a:t>Environmental Damage:</a:t>
            </a:r>
            <a:r>
              <a:rPr lang="en-US" sz="1550" dirty="0">
                <a:solidFill>
                  <a:srgbClr val="FFE5E5"/>
                </a:solidFill>
                <a:latin typeface="DM Sans" pitchFamily="34" charset="0"/>
                <a:ea typeface="DM Sans" pitchFamily="34" charset="-122"/>
                <a:cs typeface="DM Sans" pitchFamily="34" charset="-120"/>
              </a:rPr>
              <a:t> Fires destroy forests and animals, release dangerous smoke, and make climate change worse.</a:t>
            </a:r>
            <a:endParaRPr lang="en-US" sz="1550" dirty="0"/>
          </a:p>
        </p:txBody>
      </p:sp>
      <p:sp>
        <p:nvSpPr>
          <p:cNvPr id="5" name="Text 3"/>
          <p:cNvSpPr/>
          <p:nvPr/>
        </p:nvSpPr>
        <p:spPr>
          <a:xfrm>
            <a:off x="692825" y="3818215"/>
            <a:ext cx="6380917" cy="633413"/>
          </a:xfrm>
          <a:prstGeom prst="rect">
            <a:avLst/>
          </a:prstGeom>
          <a:noFill/>
          <a:ln/>
        </p:spPr>
        <p:txBody>
          <a:bodyPr wrap="square" lIns="0" tIns="0" rIns="0" bIns="0" rtlCol="0" anchor="t"/>
          <a:lstStyle/>
          <a:p>
            <a:pPr marL="342900" indent="-342900" algn="l">
              <a:lnSpc>
                <a:spcPts val="2450"/>
              </a:lnSpc>
              <a:buSzPct val="100000"/>
              <a:buChar char="•"/>
            </a:pPr>
            <a:r>
              <a:rPr lang="en-US" sz="1550" b="1" dirty="0">
                <a:solidFill>
                  <a:srgbClr val="C91313"/>
                </a:solidFill>
                <a:latin typeface="DM Sans" pitchFamily="34" charset="0"/>
                <a:ea typeface="DM Sans" pitchFamily="34" charset="-122"/>
                <a:cs typeface="DM Sans" pitchFamily="34" charset="-120"/>
              </a:rPr>
              <a:t>Economic Loss:</a:t>
            </a:r>
            <a:r>
              <a:rPr lang="en-US" sz="1550" dirty="0">
                <a:solidFill>
                  <a:srgbClr val="FFE5E5"/>
                </a:solidFill>
                <a:latin typeface="DM Sans" pitchFamily="34" charset="0"/>
                <a:ea typeface="DM Sans" pitchFamily="34" charset="-122"/>
                <a:cs typeface="DM Sans" pitchFamily="34" charset="-120"/>
              </a:rPr>
              <a:t> Every year, fires cause billions in damage to homes and businesses.</a:t>
            </a:r>
            <a:endParaRPr lang="en-US" sz="1550" dirty="0"/>
          </a:p>
        </p:txBody>
      </p:sp>
      <p:sp>
        <p:nvSpPr>
          <p:cNvPr id="6" name="Text 4"/>
          <p:cNvSpPr/>
          <p:nvPr/>
        </p:nvSpPr>
        <p:spPr>
          <a:xfrm>
            <a:off x="692825" y="4520803"/>
            <a:ext cx="6380917" cy="633413"/>
          </a:xfrm>
          <a:prstGeom prst="rect">
            <a:avLst/>
          </a:prstGeom>
          <a:noFill/>
          <a:ln/>
        </p:spPr>
        <p:txBody>
          <a:bodyPr wrap="square" lIns="0" tIns="0" rIns="0" bIns="0" rtlCol="0" anchor="t"/>
          <a:lstStyle/>
          <a:p>
            <a:pPr marL="342900" indent="-342900" algn="l">
              <a:lnSpc>
                <a:spcPts val="2450"/>
              </a:lnSpc>
              <a:buSzPct val="100000"/>
              <a:buChar char="•"/>
            </a:pPr>
            <a:r>
              <a:rPr lang="en-US" sz="1550" b="1" dirty="0">
                <a:solidFill>
                  <a:srgbClr val="C91313"/>
                </a:solidFill>
                <a:latin typeface="DM Sans" pitchFamily="34" charset="0"/>
                <a:ea typeface="DM Sans" pitchFamily="34" charset="-122"/>
                <a:cs typeface="DM Sans" pitchFamily="34" charset="-120"/>
              </a:rPr>
              <a:t>Pressure on Services:</a:t>
            </a:r>
            <a:r>
              <a:rPr lang="en-US" sz="1550" dirty="0">
                <a:solidFill>
                  <a:srgbClr val="FFE5E5"/>
                </a:solidFill>
                <a:latin typeface="DM Sans" pitchFamily="34" charset="0"/>
                <a:ea typeface="DM Sans" pitchFamily="34" charset="-122"/>
                <a:cs typeface="DM Sans" pitchFamily="34" charset="-120"/>
              </a:rPr>
              <a:t> Firefighters and emergency teams get overwhelmed, which affects other important services.</a:t>
            </a:r>
            <a:endParaRPr lang="en-US" sz="1550" dirty="0"/>
          </a:p>
        </p:txBody>
      </p:sp>
      <p:pic>
        <p:nvPicPr>
          <p:cNvPr id="7" name="Image 0" descr="preencoded.png"/>
          <p:cNvPicPr>
            <a:picLocks noChangeAspect="1"/>
          </p:cNvPicPr>
          <p:nvPr/>
        </p:nvPicPr>
        <p:blipFill>
          <a:blip r:embed="rId3"/>
          <a:stretch>
            <a:fillRect/>
          </a:stretch>
        </p:blipFill>
        <p:spPr>
          <a:xfrm>
            <a:off x="8118679" y="1740683"/>
            <a:ext cx="6380917" cy="638091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1650563"/>
            <a:ext cx="13113782" cy="1425416"/>
          </a:xfrm>
          <a:prstGeom prst="rect">
            <a:avLst/>
          </a:prstGeom>
          <a:noFill/>
          <a:ln/>
        </p:spPr>
        <p:txBody>
          <a:bodyPr wrap="square" lIns="0" tIns="0" rIns="0" bIns="0" rtlCol="0" anchor="t"/>
          <a:lstStyle/>
          <a:p>
            <a:pPr marL="0" indent="0" algn="ctr">
              <a:lnSpc>
                <a:spcPts val="5600"/>
              </a:lnSpc>
              <a:buNone/>
            </a:pPr>
            <a:r>
              <a:rPr lang="en-US" sz="4450" dirty="0">
                <a:solidFill>
                  <a:srgbClr val="FAEBEB"/>
                </a:solidFill>
                <a:latin typeface="Dela Gothic One" pitchFamily="34" charset="0"/>
                <a:ea typeface="Dela Gothic One" pitchFamily="34" charset="-122"/>
                <a:cs typeface="Dela Gothic One" pitchFamily="34" charset="-120"/>
              </a:rPr>
              <a:t>Our Solution: Computer Vision to the Rescue</a:t>
            </a:r>
            <a:endParaRPr lang="en-US" sz="4450" dirty="0"/>
          </a:p>
        </p:txBody>
      </p:sp>
      <p:sp>
        <p:nvSpPr>
          <p:cNvPr id="3" name="Text 1"/>
          <p:cNvSpPr/>
          <p:nvPr/>
        </p:nvSpPr>
        <p:spPr>
          <a:xfrm>
            <a:off x="758309" y="3509248"/>
            <a:ext cx="13113782" cy="693420"/>
          </a:xfrm>
          <a:prstGeom prst="rect">
            <a:avLst/>
          </a:prstGeom>
          <a:noFill/>
          <a:ln/>
        </p:spPr>
        <p:txBody>
          <a:bodyPr wrap="square" lIns="0" tIns="0" rIns="0" bIns="0" rtlCol="0" anchor="t"/>
          <a:lstStyle/>
          <a:p>
            <a:pPr marL="0" indent="0" algn="l">
              <a:lnSpc>
                <a:spcPts val="2700"/>
              </a:lnSpc>
              <a:buNone/>
            </a:pPr>
            <a:r>
              <a:rPr lang="en-US" sz="1700" dirty="0">
                <a:solidFill>
                  <a:srgbClr val="FFE5E5"/>
                </a:solidFill>
                <a:latin typeface="DM Sans" pitchFamily="34" charset="0"/>
                <a:ea typeface="DM Sans" pitchFamily="34" charset="-122"/>
                <a:cs typeface="DM Sans" pitchFamily="34" charset="-120"/>
              </a:rPr>
              <a:t>Our AI system uses smart cameras and advanced technology to watch areas all the time. It can spot fires quickly and more accurately than old methods. This helps reduce damage and save lives.</a:t>
            </a:r>
            <a:endParaRPr lang="en-US" sz="1700" dirty="0"/>
          </a:p>
        </p:txBody>
      </p:sp>
      <p:pic>
        <p:nvPicPr>
          <p:cNvPr id="4" name="Image 0" descr="preencoded.png"/>
          <p:cNvPicPr>
            <a:picLocks noChangeAspect="1"/>
          </p:cNvPicPr>
          <p:nvPr/>
        </p:nvPicPr>
        <p:blipFill>
          <a:blip r:embed="rId3"/>
          <a:stretch>
            <a:fillRect/>
          </a:stretch>
        </p:blipFill>
        <p:spPr>
          <a:xfrm>
            <a:off x="758309" y="4446389"/>
            <a:ext cx="4371261" cy="866537"/>
          </a:xfrm>
          <a:prstGeom prst="rect">
            <a:avLst/>
          </a:prstGeom>
        </p:spPr>
      </p:pic>
      <p:sp>
        <p:nvSpPr>
          <p:cNvPr id="5" name="Text 2"/>
          <p:cNvSpPr/>
          <p:nvPr/>
        </p:nvSpPr>
        <p:spPr>
          <a:xfrm>
            <a:off x="974884" y="5529501"/>
            <a:ext cx="3490317" cy="356235"/>
          </a:xfrm>
          <a:prstGeom prst="rect">
            <a:avLst/>
          </a:prstGeom>
          <a:noFill/>
          <a:ln/>
        </p:spPr>
        <p:txBody>
          <a:bodyPr wrap="none" lIns="0" tIns="0" rIns="0" bIns="0" rtlCol="0" anchor="t"/>
          <a:lstStyle/>
          <a:p>
            <a:pPr marL="0" indent="0" algn="l">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Surveillance Images</a:t>
            </a:r>
            <a:endParaRPr lang="en-US" sz="2200" dirty="0"/>
          </a:p>
        </p:txBody>
      </p:sp>
      <p:sp>
        <p:nvSpPr>
          <p:cNvPr id="6" name="Text 3"/>
          <p:cNvSpPr/>
          <p:nvPr/>
        </p:nvSpPr>
        <p:spPr>
          <a:xfrm>
            <a:off x="974884" y="6015633"/>
            <a:ext cx="3938111" cy="346710"/>
          </a:xfrm>
          <a:prstGeom prst="rect">
            <a:avLst/>
          </a:prstGeom>
          <a:noFill/>
          <a:ln/>
        </p:spPr>
        <p:txBody>
          <a:bodyPr wrap="none" lIns="0" tIns="0" rIns="0" bIns="0" rtlCol="0" anchor="t"/>
          <a:lstStyle/>
          <a:p>
            <a:pPr marL="0" indent="0" algn="l">
              <a:lnSpc>
                <a:spcPts val="2700"/>
              </a:lnSpc>
              <a:buNone/>
            </a:pPr>
            <a:r>
              <a:rPr lang="en-US" sz="1700" dirty="0">
                <a:solidFill>
                  <a:srgbClr val="FFE5E5"/>
                </a:solidFill>
                <a:latin typeface="DM Sans" pitchFamily="34" charset="0"/>
                <a:ea typeface="DM Sans" pitchFamily="34" charset="-122"/>
                <a:cs typeface="DM Sans" pitchFamily="34" charset="-120"/>
              </a:rPr>
              <a:t>Real-time image</a:t>
            </a:r>
            <a:endParaRPr lang="en-US" sz="1700" dirty="0"/>
          </a:p>
        </p:txBody>
      </p:sp>
      <p:pic>
        <p:nvPicPr>
          <p:cNvPr id="7" name="Image 1" descr="preencoded.png"/>
          <p:cNvPicPr>
            <a:picLocks noChangeAspect="1"/>
          </p:cNvPicPr>
          <p:nvPr/>
        </p:nvPicPr>
        <p:blipFill>
          <a:blip r:embed="rId4"/>
          <a:stretch>
            <a:fillRect/>
          </a:stretch>
        </p:blipFill>
        <p:spPr>
          <a:xfrm>
            <a:off x="5129570" y="4446389"/>
            <a:ext cx="4371261" cy="866537"/>
          </a:xfrm>
          <a:prstGeom prst="rect">
            <a:avLst/>
          </a:prstGeom>
        </p:spPr>
      </p:pic>
      <p:sp>
        <p:nvSpPr>
          <p:cNvPr id="8" name="Text 4"/>
          <p:cNvSpPr/>
          <p:nvPr/>
        </p:nvSpPr>
        <p:spPr>
          <a:xfrm>
            <a:off x="5346144" y="5529501"/>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AI Model</a:t>
            </a:r>
            <a:endParaRPr lang="en-US" sz="2200" dirty="0"/>
          </a:p>
        </p:txBody>
      </p:sp>
      <p:sp>
        <p:nvSpPr>
          <p:cNvPr id="9" name="Text 5"/>
          <p:cNvSpPr/>
          <p:nvPr/>
        </p:nvSpPr>
        <p:spPr>
          <a:xfrm>
            <a:off x="5346144" y="6015633"/>
            <a:ext cx="3938111" cy="346710"/>
          </a:xfrm>
          <a:prstGeom prst="rect">
            <a:avLst/>
          </a:prstGeom>
          <a:noFill/>
          <a:ln/>
        </p:spPr>
        <p:txBody>
          <a:bodyPr wrap="none" lIns="0" tIns="0" rIns="0" bIns="0" rtlCol="0" anchor="t"/>
          <a:lstStyle/>
          <a:p>
            <a:pPr marL="0" indent="0" algn="l">
              <a:lnSpc>
                <a:spcPts val="2700"/>
              </a:lnSpc>
              <a:buNone/>
            </a:pPr>
            <a:r>
              <a:rPr lang="en-US" sz="1700" dirty="0">
                <a:solidFill>
                  <a:srgbClr val="FFE5E5"/>
                </a:solidFill>
                <a:latin typeface="DM Sans" pitchFamily="34" charset="0"/>
                <a:ea typeface="DM Sans" pitchFamily="34" charset="-122"/>
                <a:cs typeface="DM Sans" pitchFamily="34" charset="-120"/>
              </a:rPr>
              <a:t>Analyzes for fire signatures</a:t>
            </a:r>
            <a:endParaRPr lang="en-US" sz="1700" dirty="0"/>
          </a:p>
        </p:txBody>
      </p:sp>
      <p:pic>
        <p:nvPicPr>
          <p:cNvPr id="10" name="Image 2" descr="preencoded.png"/>
          <p:cNvPicPr>
            <a:picLocks noChangeAspect="1"/>
          </p:cNvPicPr>
          <p:nvPr/>
        </p:nvPicPr>
        <p:blipFill>
          <a:blip r:embed="rId5"/>
          <a:stretch>
            <a:fillRect/>
          </a:stretch>
        </p:blipFill>
        <p:spPr>
          <a:xfrm>
            <a:off x="9500830" y="4446389"/>
            <a:ext cx="4371261" cy="866537"/>
          </a:xfrm>
          <a:prstGeom prst="rect">
            <a:avLst/>
          </a:prstGeom>
        </p:spPr>
      </p:pic>
      <p:sp>
        <p:nvSpPr>
          <p:cNvPr id="11" name="Text 6"/>
          <p:cNvSpPr/>
          <p:nvPr/>
        </p:nvSpPr>
        <p:spPr>
          <a:xfrm>
            <a:off x="9717405" y="5529501"/>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Instant Alert</a:t>
            </a:r>
            <a:endParaRPr lang="en-US" sz="2200" dirty="0"/>
          </a:p>
        </p:txBody>
      </p:sp>
      <p:sp>
        <p:nvSpPr>
          <p:cNvPr id="12" name="Text 7"/>
          <p:cNvSpPr/>
          <p:nvPr/>
        </p:nvSpPr>
        <p:spPr>
          <a:xfrm>
            <a:off x="9717405" y="6015633"/>
            <a:ext cx="3938111" cy="346710"/>
          </a:xfrm>
          <a:prstGeom prst="rect">
            <a:avLst/>
          </a:prstGeom>
          <a:noFill/>
          <a:ln/>
        </p:spPr>
        <p:txBody>
          <a:bodyPr wrap="none" lIns="0" tIns="0" rIns="0" bIns="0" rtlCol="0" anchor="t"/>
          <a:lstStyle/>
          <a:p>
            <a:pPr marL="0" indent="0" algn="l">
              <a:lnSpc>
                <a:spcPts val="2700"/>
              </a:lnSpc>
              <a:buNone/>
            </a:pPr>
            <a:r>
              <a:rPr lang="en-US" sz="1700" dirty="0">
                <a:solidFill>
                  <a:srgbClr val="FFE5E5"/>
                </a:solidFill>
                <a:latin typeface="DM Sans" pitchFamily="34" charset="0"/>
                <a:ea typeface="DM Sans" pitchFamily="34" charset="-122"/>
                <a:cs typeface="DM Sans" pitchFamily="34" charset="-120"/>
              </a:rPr>
              <a:t>show if images Contain fires</a:t>
            </a:r>
            <a:endParaRPr lang="en-US" sz="1700" dirty="0"/>
          </a:p>
        </p:txBody>
      </p:sp>
      <p:sp>
        <p:nvSpPr>
          <p:cNvPr id="13" name="Rectangle 12">
            <a:extLst>
              <a:ext uri="{FF2B5EF4-FFF2-40B4-BE49-F238E27FC236}">
                <a16:creationId xmlns:a16="http://schemas.microsoft.com/office/drawing/2014/main" id="{BC3477A2-9FDA-4176-1962-6608DFE8013A}"/>
              </a:ext>
            </a:extLst>
          </p:cNvPr>
          <p:cNvSpPr/>
          <p:nvPr/>
        </p:nvSpPr>
        <p:spPr>
          <a:xfrm>
            <a:off x="12614400" y="7524000"/>
            <a:ext cx="1944000" cy="6408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64687" y="2194322"/>
            <a:ext cx="6301026" cy="712708"/>
          </a:xfrm>
          <a:prstGeom prst="rect">
            <a:avLst/>
          </a:prstGeom>
          <a:noFill/>
          <a:ln/>
        </p:spPr>
        <p:txBody>
          <a:bodyPr wrap="none" lIns="0" tIns="0" rIns="0" bIns="0" rtlCol="0" anchor="t"/>
          <a:lstStyle/>
          <a:p>
            <a:pPr marL="0" indent="0" algn="ctr">
              <a:lnSpc>
                <a:spcPts val="5600"/>
              </a:lnSpc>
              <a:buNone/>
            </a:pPr>
            <a:r>
              <a:rPr lang="en-US" sz="4450" dirty="0">
                <a:solidFill>
                  <a:srgbClr val="FAEBEB"/>
                </a:solidFill>
                <a:latin typeface="Dela Gothic One" pitchFamily="34" charset="0"/>
                <a:ea typeface="Dela Gothic One" pitchFamily="34" charset="-122"/>
                <a:cs typeface="Dela Gothic One" pitchFamily="34" charset="-120"/>
              </a:rPr>
              <a:t>Project Objectives</a:t>
            </a:r>
            <a:endParaRPr lang="en-US" sz="4450" dirty="0"/>
          </a:p>
        </p:txBody>
      </p:sp>
      <p:pic>
        <p:nvPicPr>
          <p:cNvPr id="3" name="Image 0" descr="preencoded.png"/>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Effect>
                      <a14:sharpenSoften amount="-25000"/>
                    </a14:imgEffect>
                  </a14:imgLayer>
                </a14:imgProps>
              </a:ext>
            </a:extLst>
          </a:blip>
          <a:stretch>
            <a:fillRect/>
          </a:stretch>
        </p:blipFill>
        <p:spPr>
          <a:xfrm>
            <a:off x="758309" y="3340298"/>
            <a:ext cx="541615" cy="541615"/>
          </a:xfrm>
          <a:prstGeom prst="rect">
            <a:avLst/>
          </a:prstGeom>
        </p:spPr>
      </p:pic>
      <p:sp>
        <p:nvSpPr>
          <p:cNvPr id="4" name="Text 1"/>
          <p:cNvSpPr/>
          <p:nvPr/>
        </p:nvSpPr>
        <p:spPr>
          <a:xfrm>
            <a:off x="758309" y="4152662"/>
            <a:ext cx="4190762" cy="712470"/>
          </a:xfrm>
          <a:prstGeom prst="rect">
            <a:avLst/>
          </a:prstGeom>
          <a:noFill/>
          <a:ln/>
        </p:spPr>
        <p:txBody>
          <a:bodyPr wrap="square" lIns="0" tIns="0" rIns="0" bIns="0" rtlCol="0" anchor="t"/>
          <a:lstStyle/>
          <a:p>
            <a:pPr marL="0" indent="0" algn="l">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Develop an Accurate Model</a:t>
            </a:r>
            <a:endParaRPr lang="en-US" sz="2200" dirty="0"/>
          </a:p>
        </p:txBody>
      </p:sp>
      <p:sp>
        <p:nvSpPr>
          <p:cNvPr id="5" name="Text 2"/>
          <p:cNvSpPr/>
          <p:nvPr/>
        </p:nvSpPr>
        <p:spPr>
          <a:xfrm>
            <a:off x="758309" y="4995029"/>
            <a:ext cx="4190762" cy="1040130"/>
          </a:xfrm>
          <a:prstGeom prst="rect">
            <a:avLst/>
          </a:prstGeom>
          <a:noFill/>
          <a:ln/>
        </p:spPr>
        <p:txBody>
          <a:bodyPr wrap="square" lIns="0" tIns="0" rIns="0" bIns="0" rtlCol="0" anchor="t"/>
          <a:lstStyle/>
          <a:p>
            <a:pPr marL="0" indent="0" algn="l">
              <a:lnSpc>
                <a:spcPts val="2700"/>
              </a:lnSpc>
              <a:buNone/>
            </a:pPr>
            <a:r>
              <a:rPr lang="en-US" sz="1700" dirty="0">
                <a:solidFill>
                  <a:srgbClr val="FFE5E5"/>
                </a:solidFill>
                <a:latin typeface="DM Sans" pitchFamily="34" charset="0"/>
                <a:ea typeface="DM Sans" pitchFamily="34" charset="-122"/>
                <a:cs typeface="DM Sans" pitchFamily="34" charset="-120"/>
              </a:rPr>
              <a:t>Achieve high precision and recall in classifying fire images using robust deep learning techniques.</a:t>
            </a:r>
            <a:endParaRPr lang="en-US" sz="1700" dirty="0"/>
          </a:p>
        </p:txBody>
      </p:sp>
      <p:pic>
        <p:nvPicPr>
          <p:cNvPr id="6" name="Image 1" descr="preencoded.png"/>
          <p:cNvPicPr>
            <a:picLocks noChangeAspect="1"/>
          </p:cNvPicPr>
          <p:nvPr/>
        </p:nvPicPr>
        <p:blipFill>
          <a:blip r:embed="rId5"/>
          <a:stretch>
            <a:fillRect/>
          </a:stretch>
        </p:blipFill>
        <p:spPr>
          <a:xfrm>
            <a:off x="5219819" y="3340298"/>
            <a:ext cx="541615" cy="541615"/>
          </a:xfrm>
          <a:prstGeom prst="rect">
            <a:avLst/>
          </a:prstGeom>
        </p:spPr>
      </p:pic>
      <p:sp>
        <p:nvSpPr>
          <p:cNvPr id="7" name="Text 3"/>
          <p:cNvSpPr/>
          <p:nvPr/>
        </p:nvSpPr>
        <p:spPr>
          <a:xfrm>
            <a:off x="5219819" y="4152662"/>
            <a:ext cx="4190762" cy="712470"/>
          </a:xfrm>
          <a:prstGeom prst="rect">
            <a:avLst/>
          </a:prstGeom>
          <a:noFill/>
          <a:ln/>
        </p:spPr>
        <p:txBody>
          <a:bodyPr wrap="square" lIns="0" tIns="0" rIns="0" bIns="0" rtlCol="0" anchor="t"/>
          <a:lstStyle/>
          <a:p>
            <a:pPr marL="0" indent="0" algn="l">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Build a Practical Web Application</a:t>
            </a:r>
            <a:endParaRPr lang="en-US" sz="2200" dirty="0"/>
          </a:p>
        </p:txBody>
      </p:sp>
      <p:sp>
        <p:nvSpPr>
          <p:cNvPr id="8" name="Text 4"/>
          <p:cNvSpPr/>
          <p:nvPr/>
        </p:nvSpPr>
        <p:spPr>
          <a:xfrm>
            <a:off x="5219819" y="4995029"/>
            <a:ext cx="4190762" cy="1040130"/>
          </a:xfrm>
          <a:prstGeom prst="rect">
            <a:avLst/>
          </a:prstGeom>
          <a:noFill/>
          <a:ln/>
        </p:spPr>
        <p:txBody>
          <a:bodyPr wrap="square" lIns="0" tIns="0" rIns="0" bIns="0" rtlCol="0" anchor="t"/>
          <a:lstStyle/>
          <a:p>
            <a:pPr marL="0" indent="0" algn="l">
              <a:lnSpc>
                <a:spcPts val="2700"/>
              </a:lnSpc>
              <a:buNone/>
            </a:pPr>
            <a:r>
              <a:rPr lang="en-US" sz="1700" dirty="0">
                <a:solidFill>
                  <a:srgbClr val="FFE5E5"/>
                </a:solidFill>
                <a:latin typeface="DM Sans" pitchFamily="34" charset="0"/>
                <a:ea typeface="DM Sans" pitchFamily="34" charset="-122"/>
                <a:cs typeface="DM Sans" pitchFamily="34" charset="-120"/>
              </a:rPr>
              <a:t>Create an intuitive and interactive Flask web interface to showcase the model's capabilities in real-time.</a:t>
            </a:r>
            <a:endParaRPr lang="en-US" sz="1700" dirty="0"/>
          </a:p>
        </p:txBody>
      </p:sp>
      <p:pic>
        <p:nvPicPr>
          <p:cNvPr id="9" name="Image 2" descr="preencoded.png"/>
          <p:cNvPicPr>
            <a:picLocks noChangeAspect="1"/>
          </p:cNvPicPr>
          <p:nvPr/>
        </p:nvPicPr>
        <p:blipFill>
          <a:blip r:embed="rId6"/>
          <a:stretch>
            <a:fillRect/>
          </a:stretch>
        </p:blipFill>
        <p:spPr>
          <a:xfrm>
            <a:off x="9681329" y="3340298"/>
            <a:ext cx="541615" cy="541615"/>
          </a:xfrm>
          <a:prstGeom prst="rect">
            <a:avLst/>
          </a:prstGeom>
        </p:spPr>
      </p:pic>
      <p:sp>
        <p:nvSpPr>
          <p:cNvPr id="10" name="Text 5"/>
          <p:cNvSpPr/>
          <p:nvPr/>
        </p:nvSpPr>
        <p:spPr>
          <a:xfrm>
            <a:off x="9681329" y="4152662"/>
            <a:ext cx="4190762" cy="712470"/>
          </a:xfrm>
          <a:prstGeom prst="rect">
            <a:avLst/>
          </a:prstGeom>
          <a:noFill/>
          <a:ln/>
        </p:spPr>
        <p:txBody>
          <a:bodyPr wrap="square" lIns="0" tIns="0" rIns="0" bIns="0" rtlCol="0" anchor="t"/>
          <a:lstStyle/>
          <a:p>
            <a:pPr marL="0" indent="0" algn="l">
              <a:lnSpc>
                <a:spcPts val="2800"/>
              </a:lnSpc>
              <a:buNone/>
            </a:pPr>
            <a:r>
              <a:rPr lang="en-US" sz="2200" dirty="0">
                <a:solidFill>
                  <a:srgbClr val="FFE5E5"/>
                </a:solidFill>
                <a:latin typeface="Dela Gothic One" pitchFamily="34" charset="0"/>
                <a:ea typeface="Dela Gothic One" pitchFamily="34" charset="-122"/>
                <a:cs typeface="Dela Gothic One" pitchFamily="34" charset="-120"/>
              </a:rPr>
              <a:t>Apply Advanced Concepts</a:t>
            </a:r>
            <a:endParaRPr lang="en-US" sz="2200" dirty="0"/>
          </a:p>
        </p:txBody>
      </p:sp>
      <p:sp>
        <p:nvSpPr>
          <p:cNvPr id="11" name="Text 6"/>
          <p:cNvSpPr/>
          <p:nvPr/>
        </p:nvSpPr>
        <p:spPr>
          <a:xfrm>
            <a:off x="9681329" y="4995029"/>
            <a:ext cx="4190762" cy="1040130"/>
          </a:xfrm>
          <a:prstGeom prst="rect">
            <a:avLst/>
          </a:prstGeom>
          <a:noFill/>
          <a:ln/>
        </p:spPr>
        <p:txBody>
          <a:bodyPr wrap="square" lIns="0" tIns="0" rIns="0" bIns="0" rtlCol="0" anchor="t"/>
          <a:lstStyle/>
          <a:p>
            <a:pPr marL="0" indent="0" algn="l">
              <a:lnSpc>
                <a:spcPts val="2700"/>
              </a:lnSpc>
              <a:buNone/>
            </a:pPr>
            <a:r>
              <a:rPr lang="en-US" sz="1700" dirty="0">
                <a:solidFill>
                  <a:srgbClr val="FFE5E5"/>
                </a:solidFill>
                <a:latin typeface="DM Sans" pitchFamily="34" charset="0"/>
                <a:ea typeface="DM Sans" pitchFamily="34" charset="-122"/>
                <a:cs typeface="DM Sans" pitchFamily="34" charset="-120"/>
              </a:rPr>
              <a:t>Efficiently utilize Transfer Learning and other state-of-the-art methods for optimized model performance.</a:t>
            </a:r>
            <a:endParaRPr lang="en-US" sz="1700" dirty="0"/>
          </a:p>
        </p:txBody>
      </p:sp>
      <p:sp>
        <p:nvSpPr>
          <p:cNvPr id="12" name="Rectangle 11">
            <a:extLst>
              <a:ext uri="{FF2B5EF4-FFF2-40B4-BE49-F238E27FC236}">
                <a16:creationId xmlns:a16="http://schemas.microsoft.com/office/drawing/2014/main" id="{476A5260-94A3-5F2A-1DCB-FDCAAF45543E}"/>
              </a:ext>
            </a:extLst>
          </p:cNvPr>
          <p:cNvSpPr/>
          <p:nvPr/>
        </p:nvSpPr>
        <p:spPr>
          <a:xfrm>
            <a:off x="12614400" y="7524000"/>
            <a:ext cx="1944000" cy="6408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785830" y="2500193"/>
            <a:ext cx="7058620" cy="712708"/>
          </a:xfrm>
          <a:prstGeom prst="rect">
            <a:avLst/>
          </a:prstGeom>
          <a:noFill/>
          <a:ln/>
        </p:spPr>
        <p:txBody>
          <a:bodyPr wrap="none" lIns="0" tIns="0" rIns="0" bIns="0" rtlCol="0" anchor="t"/>
          <a:lstStyle/>
          <a:p>
            <a:pPr marL="0" indent="0" algn="ctr">
              <a:lnSpc>
                <a:spcPts val="5600"/>
              </a:lnSpc>
              <a:buNone/>
            </a:pPr>
            <a:r>
              <a:rPr lang="en-US" sz="4450" dirty="0">
                <a:solidFill>
                  <a:srgbClr val="FAEBEB"/>
                </a:solidFill>
                <a:latin typeface="Dela Gothic One" pitchFamily="34" charset="0"/>
                <a:ea typeface="Dela Gothic One" pitchFamily="34" charset="-122"/>
                <a:cs typeface="Dela Gothic One" pitchFamily="34" charset="-120"/>
              </a:rPr>
              <a:t>Tools &amp; Technologies</a:t>
            </a:r>
            <a:endParaRPr lang="en-US" sz="4450" dirty="0"/>
          </a:p>
        </p:txBody>
      </p:sp>
      <p:pic>
        <p:nvPicPr>
          <p:cNvPr id="3" name="Image 0" descr="preencoded.png"/>
          <p:cNvPicPr>
            <a:picLocks noChangeAspect="1"/>
          </p:cNvPicPr>
          <p:nvPr/>
        </p:nvPicPr>
        <p:blipFill>
          <a:blip r:embed="rId3"/>
          <a:stretch>
            <a:fillRect/>
          </a:stretch>
        </p:blipFill>
        <p:spPr>
          <a:xfrm>
            <a:off x="1173361" y="3785949"/>
            <a:ext cx="1383863" cy="866537"/>
          </a:xfrm>
          <a:prstGeom prst="rect">
            <a:avLst/>
          </a:prstGeom>
        </p:spPr>
      </p:pic>
      <p:pic>
        <p:nvPicPr>
          <p:cNvPr id="4" name="Image 1" descr="preencoded.png"/>
          <p:cNvPicPr>
            <a:picLocks noChangeAspect="1"/>
          </p:cNvPicPr>
          <p:nvPr/>
        </p:nvPicPr>
        <p:blipFill>
          <a:blip r:embed="rId4"/>
          <a:stretch>
            <a:fillRect/>
          </a:stretch>
        </p:blipFill>
        <p:spPr>
          <a:xfrm>
            <a:off x="2730460" y="3785949"/>
            <a:ext cx="1383863" cy="866537"/>
          </a:xfrm>
          <a:prstGeom prst="rect">
            <a:avLst/>
          </a:prstGeom>
        </p:spPr>
      </p:pic>
      <p:pic>
        <p:nvPicPr>
          <p:cNvPr id="5" name="Image 2" descr="preencoded.png"/>
          <p:cNvPicPr>
            <a:picLocks noChangeAspect="1"/>
          </p:cNvPicPr>
          <p:nvPr/>
        </p:nvPicPr>
        <p:blipFill>
          <a:blip r:embed="rId5"/>
          <a:stretch>
            <a:fillRect/>
          </a:stretch>
        </p:blipFill>
        <p:spPr>
          <a:xfrm>
            <a:off x="4287560" y="3785949"/>
            <a:ext cx="1383863" cy="866537"/>
          </a:xfrm>
          <a:prstGeom prst="rect">
            <a:avLst/>
          </a:prstGeom>
        </p:spPr>
      </p:pic>
      <p:pic>
        <p:nvPicPr>
          <p:cNvPr id="6" name="Image 3" descr="preencoded.png"/>
          <p:cNvPicPr>
            <a:picLocks noChangeAspect="1"/>
          </p:cNvPicPr>
          <p:nvPr/>
        </p:nvPicPr>
        <p:blipFill>
          <a:blip r:embed="rId6"/>
          <a:stretch>
            <a:fillRect/>
          </a:stretch>
        </p:blipFill>
        <p:spPr>
          <a:xfrm>
            <a:off x="5844659" y="3785949"/>
            <a:ext cx="1383863" cy="866537"/>
          </a:xfrm>
          <a:prstGeom prst="rect">
            <a:avLst/>
          </a:prstGeom>
        </p:spPr>
      </p:pic>
      <p:pic>
        <p:nvPicPr>
          <p:cNvPr id="7" name="Image 4" descr="preencoded.png"/>
          <p:cNvPicPr>
            <a:picLocks noChangeAspect="1"/>
          </p:cNvPicPr>
          <p:nvPr/>
        </p:nvPicPr>
        <p:blipFill>
          <a:blip r:embed="rId7"/>
          <a:stretch>
            <a:fillRect/>
          </a:stretch>
        </p:blipFill>
        <p:spPr>
          <a:xfrm>
            <a:off x="7401758" y="3785949"/>
            <a:ext cx="1383863" cy="866537"/>
          </a:xfrm>
          <a:prstGeom prst="rect">
            <a:avLst/>
          </a:prstGeom>
        </p:spPr>
      </p:pic>
      <p:pic>
        <p:nvPicPr>
          <p:cNvPr id="8" name="Image 5" descr="preencoded.png"/>
          <p:cNvPicPr>
            <a:picLocks noChangeAspect="1"/>
          </p:cNvPicPr>
          <p:nvPr/>
        </p:nvPicPr>
        <p:blipFill>
          <a:blip r:embed="rId8"/>
          <a:stretch>
            <a:fillRect/>
          </a:stretch>
        </p:blipFill>
        <p:spPr>
          <a:xfrm>
            <a:off x="8958858" y="3785949"/>
            <a:ext cx="1383863" cy="866537"/>
          </a:xfrm>
          <a:prstGeom prst="rect">
            <a:avLst/>
          </a:prstGeom>
        </p:spPr>
      </p:pic>
      <p:pic>
        <p:nvPicPr>
          <p:cNvPr id="9" name="Image 6" descr="preencoded.png"/>
          <p:cNvPicPr>
            <a:picLocks noChangeAspect="1"/>
          </p:cNvPicPr>
          <p:nvPr/>
        </p:nvPicPr>
        <p:blipFill>
          <a:blip r:embed="rId9"/>
          <a:stretch>
            <a:fillRect/>
          </a:stretch>
        </p:blipFill>
        <p:spPr>
          <a:xfrm>
            <a:off x="10515957" y="3785949"/>
            <a:ext cx="1383863" cy="866537"/>
          </a:xfrm>
          <a:prstGeom prst="rect">
            <a:avLst/>
          </a:prstGeom>
        </p:spPr>
      </p:pic>
      <p:pic>
        <p:nvPicPr>
          <p:cNvPr id="10" name="Image 7" descr="preencoded.png"/>
          <p:cNvPicPr>
            <a:picLocks noChangeAspect="1"/>
          </p:cNvPicPr>
          <p:nvPr/>
        </p:nvPicPr>
        <p:blipFill>
          <a:blip r:embed="rId10"/>
          <a:stretch>
            <a:fillRect/>
          </a:stretch>
        </p:blipFill>
        <p:spPr>
          <a:xfrm>
            <a:off x="12073057" y="3785949"/>
            <a:ext cx="1383863" cy="866537"/>
          </a:xfrm>
          <a:prstGeom prst="rect">
            <a:avLst/>
          </a:prstGeom>
        </p:spPr>
      </p:pic>
      <p:sp>
        <p:nvSpPr>
          <p:cNvPr id="11" name="Text 1"/>
          <p:cNvSpPr/>
          <p:nvPr/>
        </p:nvSpPr>
        <p:spPr>
          <a:xfrm>
            <a:off x="758309" y="5035987"/>
            <a:ext cx="13113782" cy="693420"/>
          </a:xfrm>
          <a:prstGeom prst="rect">
            <a:avLst/>
          </a:prstGeom>
          <a:noFill/>
          <a:ln/>
        </p:spPr>
        <p:txBody>
          <a:bodyPr wrap="square" lIns="0" tIns="0" rIns="0" bIns="0" rtlCol="0" anchor="t"/>
          <a:lstStyle/>
          <a:p>
            <a:pPr marL="0" indent="0" algn="l">
              <a:lnSpc>
                <a:spcPts val="2700"/>
              </a:lnSpc>
              <a:buNone/>
            </a:pPr>
            <a:r>
              <a:rPr lang="en-US" sz="1700" dirty="0">
                <a:solidFill>
                  <a:srgbClr val="FFE5E5"/>
                </a:solidFill>
                <a:latin typeface="DM Sans" pitchFamily="34" charset="0"/>
                <a:ea typeface="DM Sans" pitchFamily="34" charset="-122"/>
                <a:cs typeface="DM Sans" pitchFamily="34" charset="-120"/>
              </a:rPr>
              <a:t>Our project leverages a powerful combination of industry-standard tools and frameworks, ensuring robustness, scalability, and ease of deployment.</a:t>
            </a:r>
            <a:endParaRPr lang="en-US" sz="1700" dirty="0"/>
          </a:p>
        </p:txBody>
      </p:sp>
      <p:sp>
        <p:nvSpPr>
          <p:cNvPr id="12" name="Rectangle 11">
            <a:extLst>
              <a:ext uri="{FF2B5EF4-FFF2-40B4-BE49-F238E27FC236}">
                <a16:creationId xmlns:a16="http://schemas.microsoft.com/office/drawing/2014/main" id="{DBDD44D9-1AC5-BDF1-9F44-DAFDC4BB3308}"/>
              </a:ext>
            </a:extLst>
          </p:cNvPr>
          <p:cNvSpPr/>
          <p:nvPr/>
        </p:nvSpPr>
        <p:spPr>
          <a:xfrm>
            <a:off x="12614400" y="7524000"/>
            <a:ext cx="1944000" cy="6408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011567" y="532090"/>
            <a:ext cx="8607266" cy="634960"/>
          </a:xfrm>
          <a:prstGeom prst="rect">
            <a:avLst/>
          </a:prstGeom>
          <a:noFill/>
          <a:ln/>
        </p:spPr>
        <p:txBody>
          <a:bodyPr wrap="none" lIns="0" tIns="0" rIns="0" bIns="0" rtlCol="0" anchor="t"/>
          <a:lstStyle/>
          <a:p>
            <a:pPr marL="0" indent="0" algn="ctr">
              <a:lnSpc>
                <a:spcPts val="5000"/>
              </a:lnSpc>
              <a:buNone/>
            </a:pPr>
            <a:r>
              <a:rPr lang="en-US" sz="4000" dirty="0">
                <a:solidFill>
                  <a:srgbClr val="FAEBEB"/>
                </a:solidFill>
                <a:latin typeface="Dela Gothic One" pitchFamily="34" charset="0"/>
                <a:ea typeface="Dela Gothic One" pitchFamily="34" charset="-122"/>
                <a:cs typeface="Dela Gothic One" pitchFamily="34" charset="-120"/>
              </a:rPr>
              <a:t>Model Fuel: The Fire Dataset</a:t>
            </a:r>
            <a:endParaRPr lang="en-US" sz="4000" dirty="0"/>
          </a:p>
        </p:txBody>
      </p:sp>
      <p:sp>
        <p:nvSpPr>
          <p:cNvPr id="3" name="Text 1"/>
          <p:cNvSpPr/>
          <p:nvPr/>
        </p:nvSpPr>
        <p:spPr>
          <a:xfrm>
            <a:off x="675680" y="1553170"/>
            <a:ext cx="13279041" cy="308967"/>
          </a:xfrm>
          <a:prstGeom prst="rect">
            <a:avLst/>
          </a:prstGeom>
          <a:noFill/>
          <a:ln/>
        </p:spPr>
        <p:txBody>
          <a:bodyPr wrap="none" lIns="0" tIns="0" rIns="0" bIns="0" rtlCol="0" anchor="t"/>
          <a:lstStyle/>
          <a:p>
            <a:pPr marL="0" indent="0" algn="l">
              <a:lnSpc>
                <a:spcPts val="2400"/>
              </a:lnSpc>
              <a:buNone/>
            </a:pPr>
            <a:r>
              <a:rPr lang="en-US" sz="1500" dirty="0">
                <a:solidFill>
                  <a:srgbClr val="FFE5E5"/>
                </a:solidFill>
                <a:latin typeface="DM Sans" pitchFamily="34" charset="0"/>
                <a:ea typeface="DM Sans" pitchFamily="34" charset="-122"/>
                <a:cs typeface="DM Sans" pitchFamily="34" charset="-120"/>
              </a:rPr>
              <a:t>Our model was trained on a comprehensive dataset to ensure robust fire detection.</a:t>
            </a:r>
            <a:endParaRPr lang="en-US" sz="1500" dirty="0"/>
          </a:p>
        </p:txBody>
      </p:sp>
      <p:sp>
        <p:nvSpPr>
          <p:cNvPr id="4" name="Text 2"/>
          <p:cNvSpPr/>
          <p:nvPr/>
        </p:nvSpPr>
        <p:spPr>
          <a:xfrm>
            <a:off x="675680" y="2253020"/>
            <a:ext cx="11079004" cy="308967"/>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C91313"/>
                </a:solidFill>
                <a:latin typeface="DM Sans" pitchFamily="34" charset="0"/>
                <a:ea typeface="DM Sans" pitchFamily="34" charset="-122"/>
                <a:cs typeface="DM Sans" pitchFamily="34" charset="-120"/>
              </a:rPr>
              <a:t>Source</a:t>
            </a:r>
            <a:r>
              <a:rPr lang="en-US" sz="1500" dirty="0">
                <a:solidFill>
                  <a:srgbClr val="F9D933"/>
                </a:solidFill>
                <a:latin typeface="DM Sans" pitchFamily="34" charset="0"/>
                <a:ea typeface="DM Sans" pitchFamily="34" charset="-122"/>
                <a:cs typeface="DM Sans" pitchFamily="34" charset="-120"/>
              </a:rPr>
              <a:t>:</a:t>
            </a:r>
            <a:r>
              <a:rPr lang="en-US" sz="1500" dirty="0">
                <a:solidFill>
                  <a:srgbClr val="FFE5E5"/>
                </a:solidFill>
                <a:latin typeface="DM Sans" pitchFamily="34" charset="0"/>
                <a:ea typeface="DM Sans" pitchFamily="34" charset="-122"/>
                <a:cs typeface="DM Sans" pitchFamily="34" charset="-120"/>
              </a:rPr>
              <a:t> Kaggle, a leading platform for data science challenges and datasets.</a:t>
            </a:r>
            <a:endParaRPr lang="en-US" sz="1500" dirty="0"/>
          </a:p>
        </p:txBody>
      </p:sp>
      <p:sp>
        <p:nvSpPr>
          <p:cNvPr id="5" name="Text 3"/>
          <p:cNvSpPr/>
          <p:nvPr/>
        </p:nvSpPr>
        <p:spPr>
          <a:xfrm>
            <a:off x="675680" y="2629495"/>
            <a:ext cx="11079004" cy="308967"/>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C91313"/>
                </a:solidFill>
                <a:latin typeface="DM Sans" pitchFamily="34" charset="0"/>
                <a:ea typeface="DM Sans" pitchFamily="34" charset="-122"/>
                <a:cs typeface="DM Sans" pitchFamily="34" charset="-120"/>
              </a:rPr>
              <a:t>Size</a:t>
            </a:r>
            <a:r>
              <a:rPr lang="en-US" sz="1500" dirty="0">
                <a:solidFill>
                  <a:srgbClr val="F9D933"/>
                </a:solidFill>
                <a:latin typeface="DM Sans" pitchFamily="34" charset="0"/>
                <a:ea typeface="DM Sans" pitchFamily="34" charset="-122"/>
                <a:cs typeface="DM Sans" pitchFamily="34" charset="-120"/>
              </a:rPr>
              <a:t>:</a:t>
            </a:r>
            <a:r>
              <a:rPr lang="en-US" sz="1500" dirty="0">
                <a:solidFill>
                  <a:srgbClr val="FFE5E5"/>
                </a:solidFill>
                <a:latin typeface="DM Sans" pitchFamily="34" charset="0"/>
                <a:ea typeface="DM Sans" pitchFamily="34" charset="-122"/>
                <a:cs typeface="DM Sans" pitchFamily="34" charset="-120"/>
              </a:rPr>
              <a:t> Approximately 3,000 images, split into training, validation, and test sets.</a:t>
            </a:r>
            <a:endParaRPr lang="en-US" sz="1500" dirty="0"/>
          </a:p>
        </p:txBody>
      </p:sp>
      <p:sp>
        <p:nvSpPr>
          <p:cNvPr id="6" name="Text 4"/>
          <p:cNvSpPr/>
          <p:nvPr/>
        </p:nvSpPr>
        <p:spPr>
          <a:xfrm>
            <a:off x="675680" y="3005971"/>
            <a:ext cx="11079004" cy="308967"/>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C91313"/>
                </a:solidFill>
                <a:latin typeface="DM Sans" pitchFamily="34" charset="0"/>
                <a:ea typeface="DM Sans" pitchFamily="34" charset="-122"/>
                <a:cs typeface="DM Sans" pitchFamily="34" charset="-120"/>
              </a:rPr>
              <a:t>Classes</a:t>
            </a:r>
            <a:r>
              <a:rPr lang="en-US" sz="1500" dirty="0">
                <a:solidFill>
                  <a:srgbClr val="F9D933"/>
                </a:solidFill>
                <a:latin typeface="DM Sans" pitchFamily="34" charset="0"/>
                <a:ea typeface="DM Sans" pitchFamily="34" charset="-122"/>
                <a:cs typeface="DM Sans" pitchFamily="34" charset="-120"/>
              </a:rPr>
              <a:t>:</a:t>
            </a:r>
            <a:r>
              <a:rPr lang="en-US" sz="1500" dirty="0">
                <a:solidFill>
                  <a:srgbClr val="FFE5E5"/>
                </a:solidFill>
                <a:latin typeface="DM Sans" pitchFamily="34" charset="0"/>
                <a:ea typeface="DM Sans" pitchFamily="34" charset="-122"/>
                <a:cs typeface="DM Sans" pitchFamily="34" charset="-120"/>
              </a:rPr>
              <a:t> Categorized into "Fire" and "No-Fire" to facilitate binary classification.</a:t>
            </a:r>
            <a:endParaRPr lang="en-US" sz="1500" dirty="0"/>
          </a:p>
        </p:txBody>
      </p:sp>
      <p:sp>
        <p:nvSpPr>
          <p:cNvPr id="7" name="Text 5"/>
          <p:cNvSpPr/>
          <p:nvPr/>
        </p:nvSpPr>
        <p:spPr>
          <a:xfrm>
            <a:off x="675680" y="3382447"/>
            <a:ext cx="11079004" cy="308967"/>
          </a:xfrm>
          <a:prstGeom prst="rect">
            <a:avLst/>
          </a:prstGeom>
          <a:noFill/>
          <a:ln/>
        </p:spPr>
        <p:txBody>
          <a:bodyPr wrap="none" lIns="0" tIns="0" rIns="0" bIns="0" rtlCol="0" anchor="t"/>
          <a:lstStyle/>
          <a:p>
            <a:pPr marL="342900" indent="-342900" algn="l">
              <a:lnSpc>
                <a:spcPts val="2400"/>
              </a:lnSpc>
              <a:buSzPct val="100000"/>
              <a:buChar char="•"/>
            </a:pPr>
            <a:r>
              <a:rPr lang="en-US" sz="1500" dirty="0">
                <a:solidFill>
                  <a:srgbClr val="C91313"/>
                </a:solidFill>
                <a:latin typeface="DM Sans" pitchFamily="34" charset="0"/>
                <a:ea typeface="DM Sans" pitchFamily="34" charset="-122"/>
                <a:cs typeface="DM Sans" pitchFamily="34" charset="-120"/>
              </a:rPr>
              <a:t>Diversity</a:t>
            </a:r>
            <a:r>
              <a:rPr lang="en-US" sz="1500" dirty="0">
                <a:solidFill>
                  <a:srgbClr val="F9D933"/>
                </a:solidFill>
                <a:latin typeface="DM Sans" pitchFamily="34" charset="0"/>
                <a:ea typeface="DM Sans" pitchFamily="34" charset="-122"/>
                <a:cs typeface="DM Sans" pitchFamily="34" charset="-120"/>
              </a:rPr>
              <a:t>:</a:t>
            </a:r>
            <a:r>
              <a:rPr lang="en-US" sz="1500" dirty="0">
                <a:solidFill>
                  <a:srgbClr val="FFE5E5"/>
                </a:solidFill>
                <a:latin typeface="DM Sans" pitchFamily="34" charset="0"/>
                <a:ea typeface="DM Sans" pitchFamily="34" charset="-122"/>
                <a:cs typeface="DM Sans" pitchFamily="34" charset="-120"/>
              </a:rPr>
              <a:t> Images captured under various conditions, including different lighting, distances, and fire sizes.</a:t>
            </a:r>
            <a:endParaRPr lang="en-US" sz="1500" dirty="0"/>
          </a:p>
        </p:txBody>
      </p:sp>
      <p:sp>
        <p:nvSpPr>
          <p:cNvPr id="8" name="Text 6"/>
          <p:cNvSpPr/>
          <p:nvPr/>
        </p:nvSpPr>
        <p:spPr>
          <a:xfrm>
            <a:off x="12233315" y="2253020"/>
            <a:ext cx="1728907" cy="308967"/>
          </a:xfrm>
          <a:prstGeom prst="rect">
            <a:avLst/>
          </a:prstGeom>
          <a:noFill/>
          <a:ln/>
        </p:spPr>
        <p:txBody>
          <a:bodyPr wrap="none" lIns="0" tIns="0" rIns="0" bIns="0" rtlCol="0" anchor="t"/>
          <a:lstStyle/>
          <a:p>
            <a:pPr marL="0" indent="0" algn="l">
              <a:lnSpc>
                <a:spcPts val="2400"/>
              </a:lnSpc>
              <a:buNone/>
            </a:pPr>
            <a:endParaRPr lang="en-US" sz="1500" dirty="0"/>
          </a:p>
        </p:txBody>
      </p:sp>
      <p:pic>
        <p:nvPicPr>
          <p:cNvPr id="9" name="Image 0" descr="preencoded.png"/>
          <p:cNvPicPr>
            <a:picLocks noChangeAspect="1"/>
          </p:cNvPicPr>
          <p:nvPr/>
        </p:nvPicPr>
        <p:blipFill>
          <a:blip r:embed="rId3"/>
          <a:stretch>
            <a:fillRect/>
          </a:stretch>
        </p:blipFill>
        <p:spPr>
          <a:xfrm>
            <a:off x="675680" y="3976092"/>
            <a:ext cx="7270909" cy="3721418"/>
          </a:xfrm>
          <a:prstGeom prst="rect">
            <a:avLst/>
          </a:prstGeom>
        </p:spPr>
      </p:pic>
      <p:sp>
        <p:nvSpPr>
          <p:cNvPr id="10" name="Rectangle 9">
            <a:extLst>
              <a:ext uri="{FF2B5EF4-FFF2-40B4-BE49-F238E27FC236}">
                <a16:creationId xmlns:a16="http://schemas.microsoft.com/office/drawing/2014/main" id="{930AA612-13C0-4D57-3CF2-AE861CCE2635}"/>
              </a:ext>
            </a:extLst>
          </p:cNvPr>
          <p:cNvSpPr/>
          <p:nvPr/>
        </p:nvSpPr>
        <p:spPr>
          <a:xfrm>
            <a:off x="12614400" y="7524000"/>
            <a:ext cx="1944000" cy="6408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821656" y="447794"/>
            <a:ext cx="10986968" cy="535781"/>
          </a:xfrm>
          <a:prstGeom prst="rect">
            <a:avLst/>
          </a:prstGeom>
          <a:noFill/>
          <a:ln/>
        </p:spPr>
        <p:txBody>
          <a:bodyPr wrap="none" lIns="0" tIns="0" rIns="0" bIns="0" rtlCol="0" anchor="t"/>
          <a:lstStyle/>
          <a:p>
            <a:pPr marL="0" indent="0" algn="ctr">
              <a:lnSpc>
                <a:spcPts val="4200"/>
              </a:lnSpc>
              <a:buNone/>
            </a:pPr>
            <a:r>
              <a:rPr lang="en-US" sz="3350" dirty="0">
                <a:solidFill>
                  <a:srgbClr val="FAEBEB"/>
                </a:solidFill>
                <a:latin typeface="Dela Gothic One" pitchFamily="34" charset="0"/>
                <a:ea typeface="Dela Gothic One" pitchFamily="34" charset="-122"/>
                <a:cs typeface="Dela Gothic One" pitchFamily="34" charset="-120"/>
              </a:rPr>
              <a:t>Project Workflow: From Data to Deployment</a:t>
            </a:r>
            <a:endParaRPr lang="en-US" sz="3350" dirty="0"/>
          </a:p>
        </p:txBody>
      </p:sp>
      <p:sp>
        <p:nvSpPr>
          <p:cNvPr id="3" name="Shape 1"/>
          <p:cNvSpPr/>
          <p:nvPr/>
        </p:nvSpPr>
        <p:spPr>
          <a:xfrm>
            <a:off x="569952" y="1309211"/>
            <a:ext cx="651391" cy="977146"/>
          </a:xfrm>
          <a:prstGeom prst="roundRect">
            <a:avLst>
              <a:gd name="adj" fmla="val 360048"/>
            </a:avLst>
          </a:prstGeom>
          <a:solidFill>
            <a:srgbClr val="740B0B"/>
          </a:solidFill>
          <a:ln w="7620">
            <a:solidFill>
              <a:srgbClr val="8D2424"/>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773549" y="1645087"/>
            <a:ext cx="244197" cy="305276"/>
          </a:xfrm>
          <a:prstGeom prst="rect">
            <a:avLst/>
          </a:prstGeom>
        </p:spPr>
      </p:pic>
      <p:sp>
        <p:nvSpPr>
          <p:cNvPr id="5" name="Text 2"/>
          <p:cNvSpPr/>
          <p:nvPr/>
        </p:nvSpPr>
        <p:spPr>
          <a:xfrm>
            <a:off x="1384102" y="1471970"/>
            <a:ext cx="2143006" cy="267891"/>
          </a:xfrm>
          <a:prstGeom prst="rect">
            <a:avLst/>
          </a:prstGeom>
          <a:noFill/>
          <a:ln/>
        </p:spPr>
        <p:txBody>
          <a:bodyPr wrap="none" lIns="0" tIns="0" rIns="0" bIns="0" rtlCol="0" anchor="t"/>
          <a:lstStyle/>
          <a:p>
            <a:pPr marL="0" indent="0" algn="l">
              <a:lnSpc>
                <a:spcPts val="2100"/>
              </a:lnSpc>
              <a:buNone/>
            </a:pPr>
            <a:r>
              <a:rPr lang="en-US" sz="1650" dirty="0">
                <a:solidFill>
                  <a:srgbClr val="FFE5E5"/>
                </a:solidFill>
                <a:latin typeface="Dela Gothic One" pitchFamily="34" charset="0"/>
                <a:ea typeface="Dela Gothic One" pitchFamily="34" charset="-122"/>
                <a:cs typeface="Dela Gothic One" pitchFamily="34" charset="-120"/>
              </a:rPr>
              <a:t>Data Collection</a:t>
            </a:r>
            <a:endParaRPr lang="en-US" sz="1650" dirty="0"/>
          </a:p>
        </p:txBody>
      </p:sp>
      <p:sp>
        <p:nvSpPr>
          <p:cNvPr id="6" name="Text 3"/>
          <p:cNvSpPr/>
          <p:nvPr/>
        </p:nvSpPr>
        <p:spPr>
          <a:xfrm>
            <a:off x="1384102" y="1837492"/>
            <a:ext cx="12676346" cy="260509"/>
          </a:xfrm>
          <a:prstGeom prst="rect">
            <a:avLst/>
          </a:prstGeom>
          <a:noFill/>
          <a:ln/>
        </p:spPr>
        <p:txBody>
          <a:bodyPr wrap="none" lIns="0" tIns="0" rIns="0" bIns="0" rtlCol="0" anchor="t"/>
          <a:lstStyle/>
          <a:p>
            <a:pPr marL="0" indent="0" algn="l">
              <a:lnSpc>
                <a:spcPts val="2050"/>
              </a:lnSpc>
              <a:buNone/>
            </a:pPr>
            <a:r>
              <a:rPr lang="en-US" sz="1250" dirty="0">
                <a:solidFill>
                  <a:srgbClr val="FFE5E5"/>
                </a:solidFill>
                <a:latin typeface="DM Sans" pitchFamily="34" charset="0"/>
                <a:ea typeface="DM Sans" pitchFamily="34" charset="-122"/>
                <a:cs typeface="DM Sans" pitchFamily="34" charset="-120"/>
              </a:rPr>
              <a:t>Gathering diverse fire and non-fire images.</a:t>
            </a:r>
            <a:endParaRPr lang="en-US" sz="1250" dirty="0"/>
          </a:p>
        </p:txBody>
      </p:sp>
      <p:sp>
        <p:nvSpPr>
          <p:cNvPr id="7" name="Shape 4"/>
          <p:cNvSpPr/>
          <p:nvPr/>
        </p:nvSpPr>
        <p:spPr>
          <a:xfrm>
            <a:off x="569952" y="2408396"/>
            <a:ext cx="651391" cy="977146"/>
          </a:xfrm>
          <a:prstGeom prst="roundRect">
            <a:avLst>
              <a:gd name="adj" fmla="val 360048"/>
            </a:avLst>
          </a:prstGeom>
          <a:solidFill>
            <a:srgbClr val="740B0B"/>
          </a:solidFill>
          <a:ln w="7620">
            <a:solidFill>
              <a:srgbClr val="8D2424"/>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773549" y="2744272"/>
            <a:ext cx="244197" cy="305276"/>
          </a:xfrm>
          <a:prstGeom prst="rect">
            <a:avLst/>
          </a:prstGeom>
        </p:spPr>
      </p:pic>
      <p:sp>
        <p:nvSpPr>
          <p:cNvPr id="9" name="Text 5"/>
          <p:cNvSpPr/>
          <p:nvPr/>
        </p:nvSpPr>
        <p:spPr>
          <a:xfrm>
            <a:off x="1384102" y="2571155"/>
            <a:ext cx="2143006" cy="267891"/>
          </a:xfrm>
          <a:prstGeom prst="rect">
            <a:avLst/>
          </a:prstGeom>
          <a:noFill/>
          <a:ln/>
        </p:spPr>
        <p:txBody>
          <a:bodyPr wrap="none" lIns="0" tIns="0" rIns="0" bIns="0" rtlCol="0" anchor="t"/>
          <a:lstStyle/>
          <a:p>
            <a:pPr marL="0" indent="0" algn="l">
              <a:lnSpc>
                <a:spcPts val="2100"/>
              </a:lnSpc>
              <a:buNone/>
            </a:pPr>
            <a:r>
              <a:rPr lang="en-US" sz="1650" dirty="0">
                <a:solidFill>
                  <a:srgbClr val="FFE5E5"/>
                </a:solidFill>
                <a:latin typeface="Dela Gothic One" pitchFamily="34" charset="0"/>
                <a:ea typeface="Dela Gothic One" pitchFamily="34" charset="-122"/>
                <a:cs typeface="Dela Gothic One" pitchFamily="34" charset="-120"/>
              </a:rPr>
              <a:t>Preprocessing</a:t>
            </a:r>
            <a:endParaRPr lang="en-US" sz="1650" dirty="0"/>
          </a:p>
        </p:txBody>
      </p:sp>
      <p:sp>
        <p:nvSpPr>
          <p:cNvPr id="10" name="Text 6"/>
          <p:cNvSpPr/>
          <p:nvPr/>
        </p:nvSpPr>
        <p:spPr>
          <a:xfrm>
            <a:off x="1384102" y="2936677"/>
            <a:ext cx="12676346" cy="260509"/>
          </a:xfrm>
          <a:prstGeom prst="rect">
            <a:avLst/>
          </a:prstGeom>
          <a:noFill/>
          <a:ln/>
        </p:spPr>
        <p:txBody>
          <a:bodyPr wrap="none" lIns="0" tIns="0" rIns="0" bIns="0" rtlCol="0" anchor="t"/>
          <a:lstStyle/>
          <a:p>
            <a:pPr marL="0" indent="0" algn="l">
              <a:lnSpc>
                <a:spcPts val="2050"/>
              </a:lnSpc>
              <a:buNone/>
            </a:pPr>
            <a:r>
              <a:rPr lang="en-US" sz="1250" dirty="0">
                <a:solidFill>
                  <a:srgbClr val="FFE5E5"/>
                </a:solidFill>
                <a:latin typeface="DM Sans" pitchFamily="34" charset="0"/>
                <a:ea typeface="DM Sans" pitchFamily="34" charset="-122"/>
                <a:cs typeface="DM Sans" pitchFamily="34" charset="-120"/>
              </a:rPr>
              <a:t>Cleaning, augmenting, and normalizing the dataset.</a:t>
            </a:r>
            <a:endParaRPr lang="en-US" sz="1250" dirty="0"/>
          </a:p>
        </p:txBody>
      </p:sp>
      <p:sp>
        <p:nvSpPr>
          <p:cNvPr id="11" name="Shape 7"/>
          <p:cNvSpPr/>
          <p:nvPr/>
        </p:nvSpPr>
        <p:spPr>
          <a:xfrm>
            <a:off x="569952" y="3507581"/>
            <a:ext cx="651391" cy="977146"/>
          </a:xfrm>
          <a:prstGeom prst="roundRect">
            <a:avLst>
              <a:gd name="adj" fmla="val 360048"/>
            </a:avLst>
          </a:prstGeom>
          <a:solidFill>
            <a:srgbClr val="740B0B"/>
          </a:solidFill>
          <a:ln w="7620">
            <a:solidFill>
              <a:srgbClr val="8D2424"/>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773549" y="3843457"/>
            <a:ext cx="244197" cy="305276"/>
          </a:xfrm>
          <a:prstGeom prst="rect">
            <a:avLst/>
          </a:prstGeom>
        </p:spPr>
      </p:pic>
      <p:sp>
        <p:nvSpPr>
          <p:cNvPr id="13" name="Text 8"/>
          <p:cNvSpPr/>
          <p:nvPr/>
        </p:nvSpPr>
        <p:spPr>
          <a:xfrm>
            <a:off x="1384102" y="3670340"/>
            <a:ext cx="2143006" cy="267891"/>
          </a:xfrm>
          <a:prstGeom prst="rect">
            <a:avLst/>
          </a:prstGeom>
          <a:noFill/>
          <a:ln/>
        </p:spPr>
        <p:txBody>
          <a:bodyPr wrap="none" lIns="0" tIns="0" rIns="0" bIns="0" rtlCol="0" anchor="t"/>
          <a:lstStyle/>
          <a:p>
            <a:pPr marL="0" indent="0" algn="l">
              <a:lnSpc>
                <a:spcPts val="2100"/>
              </a:lnSpc>
              <a:buNone/>
            </a:pPr>
            <a:r>
              <a:rPr lang="en-US" sz="1650" dirty="0">
                <a:solidFill>
                  <a:srgbClr val="FFE5E5"/>
                </a:solidFill>
                <a:latin typeface="Dela Gothic One" pitchFamily="34" charset="0"/>
                <a:ea typeface="Dela Gothic One" pitchFamily="34" charset="-122"/>
                <a:cs typeface="Dela Gothic One" pitchFamily="34" charset="-120"/>
              </a:rPr>
              <a:t>Model Building</a:t>
            </a:r>
            <a:endParaRPr lang="en-US" sz="1650" dirty="0"/>
          </a:p>
        </p:txBody>
      </p:sp>
      <p:sp>
        <p:nvSpPr>
          <p:cNvPr id="14" name="Text 9"/>
          <p:cNvSpPr/>
          <p:nvPr/>
        </p:nvSpPr>
        <p:spPr>
          <a:xfrm>
            <a:off x="1384102" y="4035862"/>
            <a:ext cx="12676346" cy="260509"/>
          </a:xfrm>
          <a:prstGeom prst="rect">
            <a:avLst/>
          </a:prstGeom>
          <a:noFill/>
          <a:ln/>
        </p:spPr>
        <p:txBody>
          <a:bodyPr wrap="none" lIns="0" tIns="0" rIns="0" bIns="0" rtlCol="0" anchor="t"/>
          <a:lstStyle/>
          <a:p>
            <a:pPr marL="0" indent="0" algn="l">
              <a:lnSpc>
                <a:spcPts val="2050"/>
              </a:lnSpc>
              <a:buNone/>
            </a:pPr>
            <a:r>
              <a:rPr lang="en-US" sz="1250" dirty="0">
                <a:solidFill>
                  <a:srgbClr val="FFE5E5"/>
                </a:solidFill>
                <a:latin typeface="DM Sans" pitchFamily="34" charset="0"/>
                <a:ea typeface="DM Sans" pitchFamily="34" charset="-122"/>
                <a:cs typeface="DM Sans" pitchFamily="34" charset="-120"/>
              </a:rPr>
              <a:t>Designing and configuring the CNN architecture.</a:t>
            </a:r>
            <a:endParaRPr lang="en-US" sz="1250" dirty="0"/>
          </a:p>
        </p:txBody>
      </p:sp>
      <p:sp>
        <p:nvSpPr>
          <p:cNvPr id="15" name="Shape 10"/>
          <p:cNvSpPr/>
          <p:nvPr/>
        </p:nvSpPr>
        <p:spPr>
          <a:xfrm>
            <a:off x="569952" y="4606766"/>
            <a:ext cx="651391" cy="977146"/>
          </a:xfrm>
          <a:prstGeom prst="roundRect">
            <a:avLst>
              <a:gd name="adj" fmla="val 360048"/>
            </a:avLst>
          </a:prstGeom>
          <a:solidFill>
            <a:srgbClr val="740B0B"/>
          </a:solidFill>
          <a:ln w="7620">
            <a:solidFill>
              <a:srgbClr val="8D2424"/>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773549" y="4942642"/>
            <a:ext cx="244197" cy="305276"/>
          </a:xfrm>
          <a:prstGeom prst="rect">
            <a:avLst/>
          </a:prstGeom>
        </p:spPr>
      </p:pic>
      <p:sp>
        <p:nvSpPr>
          <p:cNvPr id="17" name="Text 11"/>
          <p:cNvSpPr/>
          <p:nvPr/>
        </p:nvSpPr>
        <p:spPr>
          <a:xfrm>
            <a:off x="1384102" y="4769525"/>
            <a:ext cx="2143006" cy="267891"/>
          </a:xfrm>
          <a:prstGeom prst="rect">
            <a:avLst/>
          </a:prstGeom>
          <a:noFill/>
          <a:ln/>
        </p:spPr>
        <p:txBody>
          <a:bodyPr wrap="none" lIns="0" tIns="0" rIns="0" bIns="0" rtlCol="0" anchor="t"/>
          <a:lstStyle/>
          <a:p>
            <a:pPr marL="0" indent="0" algn="l">
              <a:lnSpc>
                <a:spcPts val="2100"/>
              </a:lnSpc>
              <a:buNone/>
            </a:pPr>
            <a:r>
              <a:rPr lang="en-US" sz="1650" dirty="0">
                <a:solidFill>
                  <a:srgbClr val="FFE5E5"/>
                </a:solidFill>
                <a:latin typeface="Dela Gothic One" pitchFamily="34" charset="0"/>
                <a:ea typeface="Dela Gothic One" pitchFamily="34" charset="-122"/>
                <a:cs typeface="Dela Gothic One" pitchFamily="34" charset="-120"/>
              </a:rPr>
              <a:t>Training</a:t>
            </a:r>
            <a:endParaRPr lang="en-US" sz="1650" dirty="0"/>
          </a:p>
        </p:txBody>
      </p:sp>
      <p:sp>
        <p:nvSpPr>
          <p:cNvPr id="18" name="Text 12"/>
          <p:cNvSpPr/>
          <p:nvPr/>
        </p:nvSpPr>
        <p:spPr>
          <a:xfrm>
            <a:off x="1384102" y="5135047"/>
            <a:ext cx="12676346" cy="260509"/>
          </a:xfrm>
          <a:prstGeom prst="rect">
            <a:avLst/>
          </a:prstGeom>
          <a:noFill/>
          <a:ln/>
        </p:spPr>
        <p:txBody>
          <a:bodyPr wrap="none" lIns="0" tIns="0" rIns="0" bIns="0" rtlCol="0" anchor="t"/>
          <a:lstStyle/>
          <a:p>
            <a:pPr marL="0" indent="0" algn="l">
              <a:lnSpc>
                <a:spcPts val="2050"/>
              </a:lnSpc>
              <a:buNone/>
            </a:pPr>
            <a:r>
              <a:rPr lang="en-US" sz="1250" dirty="0">
                <a:solidFill>
                  <a:srgbClr val="FFE5E5"/>
                </a:solidFill>
                <a:latin typeface="DM Sans" pitchFamily="34" charset="0"/>
                <a:ea typeface="DM Sans" pitchFamily="34" charset="-122"/>
                <a:cs typeface="DM Sans" pitchFamily="34" charset="-120"/>
              </a:rPr>
              <a:t>Iterative optimization of model parameters.</a:t>
            </a:r>
            <a:endParaRPr lang="en-US" sz="1250" dirty="0"/>
          </a:p>
        </p:txBody>
      </p:sp>
      <p:sp>
        <p:nvSpPr>
          <p:cNvPr id="19" name="Shape 13"/>
          <p:cNvSpPr/>
          <p:nvPr/>
        </p:nvSpPr>
        <p:spPr>
          <a:xfrm>
            <a:off x="569952" y="5705951"/>
            <a:ext cx="651391" cy="977146"/>
          </a:xfrm>
          <a:prstGeom prst="roundRect">
            <a:avLst>
              <a:gd name="adj" fmla="val 360048"/>
            </a:avLst>
          </a:prstGeom>
          <a:solidFill>
            <a:srgbClr val="740B0B"/>
          </a:solidFill>
          <a:ln w="7620">
            <a:solidFill>
              <a:srgbClr val="8D2424"/>
            </a:solidFill>
            <a:prstDash val="solid"/>
          </a:ln>
        </p:spPr>
        <p:txBody>
          <a:bodyPr/>
          <a:lstStyle/>
          <a:p>
            <a:endParaRPr lang="en-US"/>
          </a:p>
        </p:txBody>
      </p:sp>
      <p:pic>
        <p:nvPicPr>
          <p:cNvPr id="20" name="Image 4" descr="preencoded.png"/>
          <p:cNvPicPr>
            <a:picLocks noChangeAspect="1"/>
          </p:cNvPicPr>
          <p:nvPr/>
        </p:nvPicPr>
        <p:blipFill>
          <a:blip r:embed="rId7">
            <a:extLst>
              <a:ext uri="{BEBA8EAE-BF5A-486C-A8C5-ECC9F3942E4B}">
                <a14:imgProps xmlns:a14="http://schemas.microsoft.com/office/drawing/2010/main">
                  <a14:imgLayer r:embed="rId8">
                    <a14:imgEffect>
                      <a14:brightnessContrast bright="-20000"/>
                    </a14:imgEffect>
                  </a14:imgLayer>
                </a14:imgProps>
              </a:ext>
            </a:extLst>
          </a:blip>
          <a:stretch>
            <a:fillRect/>
          </a:stretch>
        </p:blipFill>
        <p:spPr>
          <a:xfrm>
            <a:off x="773549" y="6072307"/>
            <a:ext cx="244197" cy="244197"/>
          </a:xfrm>
          <a:prstGeom prst="rect">
            <a:avLst/>
          </a:prstGeom>
        </p:spPr>
      </p:pic>
      <p:sp>
        <p:nvSpPr>
          <p:cNvPr id="21" name="Text 14"/>
          <p:cNvSpPr/>
          <p:nvPr/>
        </p:nvSpPr>
        <p:spPr>
          <a:xfrm>
            <a:off x="1384102" y="5868710"/>
            <a:ext cx="2143006" cy="267891"/>
          </a:xfrm>
          <a:prstGeom prst="rect">
            <a:avLst/>
          </a:prstGeom>
          <a:noFill/>
          <a:ln/>
        </p:spPr>
        <p:txBody>
          <a:bodyPr wrap="none" lIns="0" tIns="0" rIns="0" bIns="0" rtlCol="0" anchor="t"/>
          <a:lstStyle/>
          <a:p>
            <a:pPr marL="0" indent="0" algn="l">
              <a:lnSpc>
                <a:spcPts val="2100"/>
              </a:lnSpc>
              <a:buNone/>
            </a:pPr>
            <a:r>
              <a:rPr lang="en-US" sz="1650" dirty="0">
                <a:solidFill>
                  <a:srgbClr val="FFE5E5"/>
                </a:solidFill>
                <a:latin typeface="Dela Gothic One" pitchFamily="34" charset="0"/>
                <a:ea typeface="Dela Gothic One" pitchFamily="34" charset="-122"/>
                <a:cs typeface="Dela Gothic One" pitchFamily="34" charset="-120"/>
              </a:rPr>
              <a:t>Evaluation</a:t>
            </a:r>
            <a:endParaRPr lang="en-US" sz="1650" dirty="0"/>
          </a:p>
        </p:txBody>
      </p:sp>
      <p:sp>
        <p:nvSpPr>
          <p:cNvPr id="22" name="Text 15"/>
          <p:cNvSpPr/>
          <p:nvPr/>
        </p:nvSpPr>
        <p:spPr>
          <a:xfrm>
            <a:off x="1384102" y="6234232"/>
            <a:ext cx="12676346" cy="260509"/>
          </a:xfrm>
          <a:prstGeom prst="rect">
            <a:avLst/>
          </a:prstGeom>
          <a:noFill/>
          <a:ln/>
        </p:spPr>
        <p:txBody>
          <a:bodyPr wrap="none" lIns="0" tIns="0" rIns="0" bIns="0" rtlCol="0" anchor="t"/>
          <a:lstStyle/>
          <a:p>
            <a:pPr marL="0" indent="0" algn="l">
              <a:lnSpc>
                <a:spcPts val="2050"/>
              </a:lnSpc>
              <a:buNone/>
            </a:pPr>
            <a:r>
              <a:rPr lang="en-US" sz="1250" dirty="0">
                <a:solidFill>
                  <a:srgbClr val="FFE5E5"/>
                </a:solidFill>
                <a:latin typeface="DM Sans" pitchFamily="34" charset="0"/>
                <a:ea typeface="DM Sans" pitchFamily="34" charset="-122"/>
                <a:cs typeface="DM Sans" pitchFamily="34" charset="-120"/>
              </a:rPr>
              <a:t>Assessing performance with metrics and visualizations.</a:t>
            </a:r>
            <a:endParaRPr lang="en-US" sz="1250" dirty="0"/>
          </a:p>
        </p:txBody>
      </p:sp>
      <p:sp>
        <p:nvSpPr>
          <p:cNvPr id="23" name="Shape 16"/>
          <p:cNvSpPr/>
          <p:nvPr/>
        </p:nvSpPr>
        <p:spPr>
          <a:xfrm>
            <a:off x="569952" y="6805136"/>
            <a:ext cx="651391" cy="977146"/>
          </a:xfrm>
          <a:prstGeom prst="roundRect">
            <a:avLst>
              <a:gd name="adj" fmla="val 360048"/>
            </a:avLst>
          </a:prstGeom>
          <a:solidFill>
            <a:srgbClr val="740B0B"/>
          </a:solidFill>
          <a:ln w="7620">
            <a:solidFill>
              <a:srgbClr val="8D2424"/>
            </a:solidFill>
            <a:prstDash val="solid"/>
          </a:ln>
        </p:spPr>
        <p:txBody>
          <a:bodyPr/>
          <a:lstStyle/>
          <a:p>
            <a:endParaRPr lang="en-US"/>
          </a:p>
        </p:txBody>
      </p:sp>
      <p:pic>
        <p:nvPicPr>
          <p:cNvPr id="24" name="Image 5" descr="preencoded.png"/>
          <p:cNvPicPr>
            <a:picLocks noChangeAspect="1"/>
          </p:cNvPicPr>
          <p:nvPr/>
        </p:nvPicPr>
        <p:blipFill>
          <a:blip r:embed="rId9"/>
          <a:stretch>
            <a:fillRect/>
          </a:stretch>
        </p:blipFill>
        <p:spPr>
          <a:xfrm>
            <a:off x="773549" y="7141012"/>
            <a:ext cx="244197" cy="305276"/>
          </a:xfrm>
          <a:prstGeom prst="rect">
            <a:avLst/>
          </a:prstGeom>
        </p:spPr>
      </p:pic>
      <p:sp>
        <p:nvSpPr>
          <p:cNvPr id="25" name="Text 17"/>
          <p:cNvSpPr/>
          <p:nvPr/>
        </p:nvSpPr>
        <p:spPr>
          <a:xfrm>
            <a:off x="1384102" y="6967895"/>
            <a:ext cx="2657951" cy="267891"/>
          </a:xfrm>
          <a:prstGeom prst="rect">
            <a:avLst/>
          </a:prstGeom>
          <a:noFill/>
          <a:ln/>
        </p:spPr>
        <p:txBody>
          <a:bodyPr wrap="none" lIns="0" tIns="0" rIns="0" bIns="0" rtlCol="0" anchor="t"/>
          <a:lstStyle/>
          <a:p>
            <a:pPr marL="0" indent="0" algn="l">
              <a:lnSpc>
                <a:spcPts val="2100"/>
              </a:lnSpc>
              <a:buNone/>
            </a:pPr>
            <a:r>
              <a:rPr lang="en-US" sz="1650" dirty="0">
                <a:solidFill>
                  <a:srgbClr val="FFE5E5"/>
                </a:solidFill>
                <a:latin typeface="Dela Gothic One" pitchFamily="34" charset="0"/>
                <a:ea typeface="Dela Gothic One" pitchFamily="34" charset="-122"/>
                <a:cs typeface="Dela Gothic One" pitchFamily="34" charset="-120"/>
              </a:rPr>
              <a:t>Web App Deployment</a:t>
            </a:r>
            <a:endParaRPr lang="en-US" sz="1650" dirty="0"/>
          </a:p>
        </p:txBody>
      </p:sp>
      <p:sp>
        <p:nvSpPr>
          <p:cNvPr id="26" name="Text 18"/>
          <p:cNvSpPr/>
          <p:nvPr/>
        </p:nvSpPr>
        <p:spPr>
          <a:xfrm>
            <a:off x="1384102" y="7333417"/>
            <a:ext cx="12676346" cy="260509"/>
          </a:xfrm>
          <a:prstGeom prst="rect">
            <a:avLst/>
          </a:prstGeom>
          <a:noFill/>
          <a:ln/>
        </p:spPr>
        <p:txBody>
          <a:bodyPr wrap="none" lIns="0" tIns="0" rIns="0" bIns="0" rtlCol="0" anchor="t"/>
          <a:lstStyle/>
          <a:p>
            <a:pPr marL="0" indent="0" algn="l">
              <a:lnSpc>
                <a:spcPts val="2050"/>
              </a:lnSpc>
              <a:buNone/>
            </a:pPr>
            <a:r>
              <a:rPr lang="en-US" sz="1250" dirty="0">
                <a:solidFill>
                  <a:srgbClr val="FFE5E5"/>
                </a:solidFill>
                <a:latin typeface="DM Sans" pitchFamily="34" charset="0"/>
                <a:ea typeface="DM Sans" pitchFamily="34" charset="-122"/>
                <a:cs typeface="DM Sans" pitchFamily="34" charset="-120"/>
              </a:rPr>
              <a:t>Integrating the model into a user-friendly Flask application.</a:t>
            </a:r>
            <a:endParaRPr lang="en-US" sz="1250" dirty="0"/>
          </a:p>
        </p:txBody>
      </p:sp>
      <p:sp>
        <p:nvSpPr>
          <p:cNvPr id="27" name="Rectangle 26">
            <a:extLst>
              <a:ext uri="{FF2B5EF4-FFF2-40B4-BE49-F238E27FC236}">
                <a16:creationId xmlns:a16="http://schemas.microsoft.com/office/drawing/2014/main" id="{6DC20298-36E6-3E17-02B6-D4094325E416}"/>
              </a:ext>
            </a:extLst>
          </p:cNvPr>
          <p:cNvSpPr/>
          <p:nvPr/>
        </p:nvSpPr>
        <p:spPr>
          <a:xfrm>
            <a:off x="12614400" y="7524000"/>
            <a:ext cx="1944000" cy="6408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73750" y="372189"/>
            <a:ext cx="2630210" cy="222647"/>
          </a:xfrm>
          <a:prstGeom prst="rect">
            <a:avLst/>
          </a:prstGeom>
          <a:noFill/>
          <a:ln/>
        </p:spPr>
        <p:txBody>
          <a:bodyPr wrap="none" lIns="0" tIns="0" rIns="0" bIns="0" rtlCol="0" anchor="t"/>
          <a:lstStyle/>
          <a:p>
            <a:pPr marL="0" indent="0" algn="l">
              <a:lnSpc>
                <a:spcPts val="1750"/>
              </a:lnSpc>
              <a:buNone/>
            </a:pPr>
            <a:r>
              <a:rPr lang="en-US" sz="1400" dirty="0">
                <a:solidFill>
                  <a:srgbClr val="FAEBEB"/>
                </a:solidFill>
                <a:latin typeface="Dela Gothic One" pitchFamily="34" charset="0"/>
                <a:ea typeface="Dela Gothic One" pitchFamily="34" charset="-122"/>
                <a:cs typeface="Dela Gothic One" pitchFamily="34" charset="-120"/>
              </a:rPr>
              <a:t>Model Building &amp; Training</a:t>
            </a:r>
            <a:endParaRPr lang="en-US" sz="1400" dirty="0"/>
          </a:p>
        </p:txBody>
      </p:sp>
      <p:pic>
        <p:nvPicPr>
          <p:cNvPr id="3" name="Image 0" descr="preencoded.png"/>
          <p:cNvPicPr>
            <a:picLocks noChangeAspect="1"/>
          </p:cNvPicPr>
          <p:nvPr/>
        </p:nvPicPr>
        <p:blipFill>
          <a:blip r:embed="rId3"/>
          <a:stretch>
            <a:fillRect/>
          </a:stretch>
        </p:blipFill>
        <p:spPr>
          <a:xfrm>
            <a:off x="473750" y="865465"/>
            <a:ext cx="6303764" cy="6624638"/>
          </a:xfrm>
          <a:prstGeom prst="rect">
            <a:avLst/>
          </a:prstGeom>
        </p:spPr>
      </p:pic>
      <p:sp>
        <p:nvSpPr>
          <p:cNvPr id="4" name="Text 1"/>
          <p:cNvSpPr/>
          <p:nvPr/>
        </p:nvSpPr>
        <p:spPr>
          <a:xfrm>
            <a:off x="473750" y="7642384"/>
            <a:ext cx="13682901" cy="216575"/>
          </a:xfrm>
          <a:prstGeom prst="rect">
            <a:avLst/>
          </a:prstGeom>
          <a:noFill/>
          <a:ln/>
        </p:spPr>
        <p:txBody>
          <a:bodyPr wrap="none" lIns="0" tIns="0" rIns="0" bIns="0" rtlCol="0" anchor="t"/>
          <a:lstStyle/>
          <a:p>
            <a:pPr marL="0" indent="0" algn="l">
              <a:lnSpc>
                <a:spcPts val="1700"/>
              </a:lnSpc>
              <a:buNone/>
            </a:pPr>
            <a:endParaRPr lang="en-US" sz="1050" dirty="0"/>
          </a:p>
        </p:txBody>
      </p:sp>
      <p:sp>
        <p:nvSpPr>
          <p:cNvPr id="5" name="Rectangle 4">
            <a:extLst>
              <a:ext uri="{FF2B5EF4-FFF2-40B4-BE49-F238E27FC236}">
                <a16:creationId xmlns:a16="http://schemas.microsoft.com/office/drawing/2014/main" id="{1D7C17BD-0A12-D7B2-FE2A-318D0E494486}"/>
              </a:ext>
            </a:extLst>
          </p:cNvPr>
          <p:cNvSpPr/>
          <p:nvPr/>
        </p:nvSpPr>
        <p:spPr>
          <a:xfrm>
            <a:off x="12614400" y="7524000"/>
            <a:ext cx="1944000" cy="6408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58309" y="1503640"/>
            <a:ext cx="4211717" cy="356235"/>
          </a:xfrm>
          <a:prstGeom prst="rect">
            <a:avLst/>
          </a:prstGeom>
          <a:noFill/>
          <a:ln/>
        </p:spPr>
        <p:txBody>
          <a:bodyPr wrap="none" lIns="0" tIns="0" rIns="0" bIns="0" rtlCol="0" anchor="t"/>
          <a:lstStyle/>
          <a:p>
            <a:pPr marL="0" indent="0" algn="l">
              <a:lnSpc>
                <a:spcPts val="2800"/>
              </a:lnSpc>
              <a:buNone/>
            </a:pPr>
            <a:r>
              <a:rPr lang="en-US" sz="2200" dirty="0">
                <a:solidFill>
                  <a:srgbClr val="FAEBEB"/>
                </a:solidFill>
                <a:latin typeface="Dela Gothic One" pitchFamily="34" charset="0"/>
                <a:ea typeface="Dela Gothic One" pitchFamily="34" charset="-122"/>
                <a:cs typeface="Dela Gothic One" pitchFamily="34" charset="-120"/>
              </a:rPr>
              <a:t>Model Building &amp; Training</a:t>
            </a:r>
            <a:endParaRPr lang="en-US" sz="2200" dirty="0"/>
          </a:p>
        </p:txBody>
      </p:sp>
      <p:pic>
        <p:nvPicPr>
          <p:cNvPr id="3" name="Image 0" descr="preencoded.png"/>
          <p:cNvPicPr>
            <a:picLocks noChangeAspect="1"/>
          </p:cNvPicPr>
          <p:nvPr/>
        </p:nvPicPr>
        <p:blipFill>
          <a:blip r:embed="rId3"/>
          <a:stretch>
            <a:fillRect/>
          </a:stretch>
        </p:blipFill>
        <p:spPr>
          <a:xfrm>
            <a:off x="758309" y="2293144"/>
            <a:ext cx="13113782" cy="3842266"/>
          </a:xfrm>
          <a:prstGeom prst="rect">
            <a:avLst/>
          </a:prstGeom>
        </p:spPr>
      </p:pic>
      <p:sp>
        <p:nvSpPr>
          <p:cNvPr id="4" name="Text 1"/>
          <p:cNvSpPr/>
          <p:nvPr/>
        </p:nvSpPr>
        <p:spPr>
          <a:xfrm>
            <a:off x="758309" y="6379131"/>
            <a:ext cx="13113782" cy="346710"/>
          </a:xfrm>
          <a:prstGeom prst="rect">
            <a:avLst/>
          </a:prstGeom>
          <a:noFill/>
          <a:ln/>
        </p:spPr>
        <p:txBody>
          <a:bodyPr wrap="none" lIns="0" tIns="0" rIns="0" bIns="0" rtlCol="0" anchor="t"/>
          <a:lstStyle/>
          <a:p>
            <a:pPr marL="0" indent="0" algn="l">
              <a:lnSpc>
                <a:spcPts val="2700"/>
              </a:lnSpc>
              <a:buNone/>
            </a:pPr>
            <a:endParaRPr lang="en-US" sz="1700" dirty="0"/>
          </a:p>
        </p:txBody>
      </p:sp>
      <p:sp>
        <p:nvSpPr>
          <p:cNvPr id="5" name="Rectangle 4">
            <a:extLst>
              <a:ext uri="{FF2B5EF4-FFF2-40B4-BE49-F238E27FC236}">
                <a16:creationId xmlns:a16="http://schemas.microsoft.com/office/drawing/2014/main" id="{A4F9F6F2-A518-4EB9-DCE8-C399C2FB73AD}"/>
              </a:ext>
            </a:extLst>
          </p:cNvPr>
          <p:cNvSpPr/>
          <p:nvPr/>
        </p:nvSpPr>
        <p:spPr>
          <a:xfrm>
            <a:off x="12614400" y="7524000"/>
            <a:ext cx="1944000" cy="6408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0308" y="440174"/>
            <a:ext cx="2530554" cy="263247"/>
          </a:xfrm>
          <a:prstGeom prst="rect">
            <a:avLst/>
          </a:prstGeom>
          <a:noFill/>
          <a:ln/>
        </p:spPr>
        <p:txBody>
          <a:bodyPr wrap="none" lIns="0" tIns="0" rIns="0" bIns="0" rtlCol="0" anchor="t"/>
          <a:lstStyle/>
          <a:p>
            <a:pPr marL="0" indent="0" algn="l">
              <a:lnSpc>
                <a:spcPts val="2050"/>
              </a:lnSpc>
              <a:buNone/>
            </a:pPr>
            <a:r>
              <a:rPr lang="en-US" sz="1650" dirty="0">
                <a:solidFill>
                  <a:srgbClr val="FAEBEB"/>
                </a:solidFill>
                <a:latin typeface="Dela Gothic One" pitchFamily="34" charset="0"/>
                <a:ea typeface="Dela Gothic One" pitchFamily="34" charset="-122"/>
                <a:cs typeface="Dela Gothic One" pitchFamily="34" charset="-120"/>
              </a:rPr>
              <a:t>Results &amp; Evaluation</a:t>
            </a:r>
            <a:endParaRPr lang="en-US" sz="1650" dirty="0"/>
          </a:p>
        </p:txBody>
      </p:sp>
      <p:pic>
        <p:nvPicPr>
          <p:cNvPr id="3" name="Image 0" descr="preencoded.png"/>
          <p:cNvPicPr>
            <a:picLocks noChangeAspect="1"/>
          </p:cNvPicPr>
          <p:nvPr/>
        </p:nvPicPr>
        <p:blipFill>
          <a:blip r:embed="rId3"/>
          <a:stretch>
            <a:fillRect/>
          </a:stretch>
        </p:blipFill>
        <p:spPr>
          <a:xfrm>
            <a:off x="560308" y="1023580"/>
            <a:ext cx="12367260" cy="4512588"/>
          </a:xfrm>
          <a:prstGeom prst="rect">
            <a:avLst/>
          </a:prstGeom>
        </p:spPr>
      </p:pic>
      <p:sp>
        <p:nvSpPr>
          <p:cNvPr id="4" name="Text 1"/>
          <p:cNvSpPr/>
          <p:nvPr/>
        </p:nvSpPr>
        <p:spPr>
          <a:xfrm>
            <a:off x="560308" y="5716191"/>
            <a:ext cx="13509784" cy="256223"/>
          </a:xfrm>
          <a:prstGeom prst="rect">
            <a:avLst/>
          </a:prstGeom>
          <a:noFill/>
          <a:ln/>
        </p:spPr>
        <p:txBody>
          <a:bodyPr wrap="none" lIns="0" tIns="0" rIns="0" bIns="0" rtlCol="0" anchor="t"/>
          <a:lstStyle/>
          <a:p>
            <a:pPr marL="0" indent="0" algn="l">
              <a:lnSpc>
                <a:spcPts val="2000"/>
              </a:lnSpc>
              <a:buNone/>
            </a:pPr>
            <a:r>
              <a:rPr lang="en-US" sz="1250" dirty="0">
                <a:solidFill>
                  <a:srgbClr val="FFE5E5"/>
                </a:solidFill>
                <a:latin typeface="DM Sans" pitchFamily="34" charset="0"/>
                <a:ea typeface="DM Sans" pitchFamily="34" charset="-122"/>
                <a:cs typeface="DM Sans" pitchFamily="34" charset="-120"/>
              </a:rPr>
              <a:t>                                 precision    recall  f1-score   support      </a:t>
            </a:r>
            <a:endParaRPr lang="en-US" sz="1250" dirty="0"/>
          </a:p>
        </p:txBody>
      </p:sp>
      <p:sp>
        <p:nvSpPr>
          <p:cNvPr id="5" name="Text 2"/>
          <p:cNvSpPr/>
          <p:nvPr/>
        </p:nvSpPr>
        <p:spPr>
          <a:xfrm>
            <a:off x="560308" y="6152436"/>
            <a:ext cx="13509784" cy="256223"/>
          </a:xfrm>
          <a:prstGeom prst="rect">
            <a:avLst/>
          </a:prstGeom>
          <a:noFill/>
          <a:ln/>
        </p:spPr>
        <p:txBody>
          <a:bodyPr wrap="none" lIns="0" tIns="0" rIns="0" bIns="0" rtlCol="0" anchor="t"/>
          <a:lstStyle/>
          <a:p>
            <a:pPr marL="0" indent="0" algn="l">
              <a:lnSpc>
                <a:spcPts val="2000"/>
              </a:lnSpc>
              <a:buNone/>
            </a:pPr>
            <a:r>
              <a:rPr lang="en-US" sz="1250" dirty="0">
                <a:solidFill>
                  <a:srgbClr val="FFE5E5"/>
                </a:solidFill>
                <a:latin typeface="DM Sans" pitchFamily="34" charset="0"/>
                <a:ea typeface="DM Sans" pitchFamily="34" charset="-122"/>
                <a:cs typeface="DM Sans" pitchFamily="34" charset="-120"/>
              </a:rPr>
              <a:t>fire_images            0.99             1.00        1.00       131 </a:t>
            </a:r>
            <a:endParaRPr lang="en-US" sz="1250" dirty="0"/>
          </a:p>
        </p:txBody>
      </p:sp>
      <p:sp>
        <p:nvSpPr>
          <p:cNvPr id="6" name="Text 3"/>
          <p:cNvSpPr/>
          <p:nvPr/>
        </p:nvSpPr>
        <p:spPr>
          <a:xfrm>
            <a:off x="560308" y="6588681"/>
            <a:ext cx="13509784" cy="256223"/>
          </a:xfrm>
          <a:prstGeom prst="rect">
            <a:avLst/>
          </a:prstGeom>
          <a:noFill/>
          <a:ln/>
        </p:spPr>
        <p:txBody>
          <a:bodyPr wrap="none" lIns="0" tIns="0" rIns="0" bIns="0" rtlCol="0" anchor="t"/>
          <a:lstStyle/>
          <a:p>
            <a:pPr marL="0" indent="0" algn="l">
              <a:lnSpc>
                <a:spcPts val="2000"/>
              </a:lnSpc>
              <a:buNone/>
            </a:pPr>
            <a:r>
              <a:rPr lang="en-US" sz="1250" dirty="0">
                <a:solidFill>
                  <a:srgbClr val="FFE5E5"/>
                </a:solidFill>
                <a:latin typeface="DM Sans" pitchFamily="34" charset="0"/>
                <a:ea typeface="DM Sans" pitchFamily="34" charset="-122"/>
                <a:cs typeface="DM Sans" pitchFamily="34" charset="-120"/>
              </a:rPr>
              <a:t>non_fire_images    1.00             0.97       0.99       36        </a:t>
            </a:r>
            <a:endParaRPr lang="en-US" sz="1250" dirty="0"/>
          </a:p>
        </p:txBody>
      </p:sp>
      <p:sp>
        <p:nvSpPr>
          <p:cNvPr id="7" name="Text 4"/>
          <p:cNvSpPr/>
          <p:nvPr/>
        </p:nvSpPr>
        <p:spPr>
          <a:xfrm>
            <a:off x="560308" y="7024926"/>
            <a:ext cx="13509784" cy="256223"/>
          </a:xfrm>
          <a:prstGeom prst="rect">
            <a:avLst/>
          </a:prstGeom>
          <a:noFill/>
          <a:ln/>
        </p:spPr>
        <p:txBody>
          <a:bodyPr wrap="none" lIns="0" tIns="0" rIns="0" bIns="0" rtlCol="0" anchor="t"/>
          <a:lstStyle/>
          <a:p>
            <a:pPr marL="0" indent="0" algn="l">
              <a:lnSpc>
                <a:spcPts val="2000"/>
              </a:lnSpc>
              <a:buNone/>
            </a:pPr>
            <a:r>
              <a:rPr lang="en-US" sz="1250" dirty="0">
                <a:solidFill>
                  <a:srgbClr val="FFE5E5"/>
                </a:solidFill>
                <a:latin typeface="DM Sans" pitchFamily="34" charset="0"/>
                <a:ea typeface="DM Sans" pitchFamily="34" charset="-122"/>
                <a:cs typeface="DM Sans" pitchFamily="34" charset="-120"/>
              </a:rPr>
              <a:t> accuracy                                                   0.99       167      </a:t>
            </a:r>
            <a:endParaRPr lang="en-US" sz="1250" dirty="0"/>
          </a:p>
        </p:txBody>
      </p:sp>
      <p:sp>
        <p:nvSpPr>
          <p:cNvPr id="8" name="Text 5"/>
          <p:cNvSpPr/>
          <p:nvPr/>
        </p:nvSpPr>
        <p:spPr>
          <a:xfrm>
            <a:off x="560308" y="7461171"/>
            <a:ext cx="13509784" cy="256223"/>
          </a:xfrm>
          <a:prstGeom prst="rect">
            <a:avLst/>
          </a:prstGeom>
          <a:noFill/>
          <a:ln/>
        </p:spPr>
        <p:txBody>
          <a:bodyPr wrap="none" lIns="0" tIns="0" rIns="0" bIns="0" rtlCol="0" anchor="t"/>
          <a:lstStyle/>
          <a:p>
            <a:pPr marL="0" indent="0" algn="l">
              <a:lnSpc>
                <a:spcPts val="2000"/>
              </a:lnSpc>
              <a:buNone/>
            </a:pPr>
            <a:r>
              <a:rPr lang="en-US" sz="1250" dirty="0">
                <a:solidFill>
                  <a:srgbClr val="FFE5E5"/>
                </a:solidFill>
                <a:latin typeface="DM Sans" pitchFamily="34" charset="0"/>
                <a:ea typeface="DM Sans" pitchFamily="34" charset="-122"/>
                <a:cs typeface="DM Sans" pitchFamily="34" charset="-120"/>
              </a:rPr>
              <a:t> macro avg               1.00             0.99       0.99       167    </a:t>
            </a:r>
            <a:endParaRPr lang="en-US" sz="1250" dirty="0"/>
          </a:p>
        </p:txBody>
      </p:sp>
      <p:sp>
        <p:nvSpPr>
          <p:cNvPr id="9" name="Text 6"/>
          <p:cNvSpPr/>
          <p:nvPr/>
        </p:nvSpPr>
        <p:spPr>
          <a:xfrm>
            <a:off x="560308" y="7897416"/>
            <a:ext cx="13509784" cy="256223"/>
          </a:xfrm>
          <a:prstGeom prst="rect">
            <a:avLst/>
          </a:prstGeom>
          <a:noFill/>
          <a:ln/>
        </p:spPr>
        <p:txBody>
          <a:bodyPr wrap="none" lIns="0" tIns="0" rIns="0" bIns="0" rtlCol="0" anchor="t"/>
          <a:lstStyle/>
          <a:p>
            <a:pPr marL="0" indent="0" algn="l">
              <a:lnSpc>
                <a:spcPts val="2000"/>
              </a:lnSpc>
              <a:buNone/>
            </a:pPr>
            <a:r>
              <a:rPr lang="en-US" sz="1250" dirty="0">
                <a:solidFill>
                  <a:srgbClr val="FFE5E5"/>
                </a:solidFill>
                <a:latin typeface="DM Sans" pitchFamily="34" charset="0"/>
                <a:ea typeface="DM Sans" pitchFamily="34" charset="-122"/>
                <a:cs typeface="DM Sans" pitchFamily="34" charset="-120"/>
              </a:rPr>
              <a:t>weighted avg            0.99            0.99       0.99       167</a:t>
            </a:r>
            <a:endParaRPr lang="en-US" sz="1250" dirty="0"/>
          </a:p>
        </p:txBody>
      </p:sp>
      <p:sp>
        <p:nvSpPr>
          <p:cNvPr id="10" name="Rectangle 9">
            <a:extLst>
              <a:ext uri="{FF2B5EF4-FFF2-40B4-BE49-F238E27FC236}">
                <a16:creationId xmlns:a16="http://schemas.microsoft.com/office/drawing/2014/main" id="{23F7CCC1-4E85-BF25-1297-C305E2B49EDE}"/>
              </a:ext>
            </a:extLst>
          </p:cNvPr>
          <p:cNvSpPr/>
          <p:nvPr/>
        </p:nvSpPr>
        <p:spPr>
          <a:xfrm>
            <a:off x="12614400" y="7524000"/>
            <a:ext cx="1944000" cy="6408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464368" y="3758446"/>
            <a:ext cx="5701546" cy="712708"/>
          </a:xfrm>
          <a:prstGeom prst="rect">
            <a:avLst/>
          </a:prstGeom>
          <a:noFill/>
          <a:ln/>
        </p:spPr>
        <p:txBody>
          <a:bodyPr wrap="none" lIns="0" tIns="0" rIns="0" bIns="0" rtlCol="0" anchor="t"/>
          <a:lstStyle/>
          <a:p>
            <a:pPr marL="0" indent="0" algn="ctr">
              <a:lnSpc>
                <a:spcPts val="5600"/>
              </a:lnSpc>
              <a:buNone/>
            </a:pPr>
            <a:r>
              <a:rPr lang="en-US" sz="4450" dirty="0">
                <a:solidFill>
                  <a:srgbClr val="FAEBEB"/>
                </a:solidFill>
                <a:latin typeface="Dela Gothic One" pitchFamily="34" charset="0"/>
                <a:ea typeface="Dela Gothic One" pitchFamily="34" charset="-122"/>
                <a:cs typeface="Dela Gothic One" pitchFamily="34" charset="-120"/>
              </a:rPr>
              <a:t>Thank You</a:t>
            </a:r>
            <a:endParaRPr lang="en-US" sz="4450" dirty="0"/>
          </a:p>
        </p:txBody>
      </p:sp>
      <p:sp>
        <p:nvSpPr>
          <p:cNvPr id="3" name="Rectangle 2">
            <a:extLst>
              <a:ext uri="{FF2B5EF4-FFF2-40B4-BE49-F238E27FC236}">
                <a16:creationId xmlns:a16="http://schemas.microsoft.com/office/drawing/2014/main" id="{F02E0FFE-9B3D-1CB5-F1FF-7F4492DFC962}"/>
              </a:ext>
            </a:extLst>
          </p:cNvPr>
          <p:cNvSpPr/>
          <p:nvPr/>
        </p:nvSpPr>
        <p:spPr>
          <a:xfrm>
            <a:off x="12614400" y="7524000"/>
            <a:ext cx="1944000" cy="6408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F6DED76F1B40240A049751C89FD8BF7" ma:contentTypeVersion="16" ma:contentTypeDescription="Create a new document." ma:contentTypeScope="" ma:versionID="20e6d3aa15a5c693842292a965fae678">
  <xsd:schema xmlns:xsd="http://www.w3.org/2001/XMLSchema" xmlns:xs="http://www.w3.org/2001/XMLSchema" xmlns:p="http://schemas.microsoft.com/office/2006/metadata/properties" xmlns:ns3="a5e97bb6-fb7a-4b09-9134-7ee45b3f923e" xmlns:ns4="4829035b-2d40-48fe-af29-62b227ef92cf" targetNamespace="http://schemas.microsoft.com/office/2006/metadata/properties" ma:root="true" ma:fieldsID="ceba98c78569ecd2f1fe061c8d40e32c" ns3:_="" ns4:_="">
    <xsd:import namespace="a5e97bb6-fb7a-4b09-9134-7ee45b3f923e"/>
    <xsd:import namespace="4829035b-2d40-48fe-af29-62b227ef92cf"/>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SearchProperties" minOccurs="0"/>
                <xsd:element ref="ns3:MediaServiceAutoTags" minOccurs="0"/>
                <xsd:element ref="ns3:MediaServiceOCR" minOccurs="0"/>
                <xsd:element ref="ns3:MediaServiceGenerationTime" minOccurs="0"/>
                <xsd:element ref="ns3:MediaServiceEventHashCode" minOccurs="0"/>
                <xsd:element ref="ns3:_activity" minOccurs="0"/>
                <xsd:element ref="ns3:MediaServiceObjectDetectorVersions" minOccurs="0"/>
                <xsd:element ref="ns3:MediaServiceSystem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e97bb6-fb7a-4b09-9134-7ee45b3f92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829035b-2d40-48fe-af29-62b227ef92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5e97bb6-fb7a-4b09-9134-7ee45b3f923e" xsi:nil="true"/>
  </documentManagement>
</p:properties>
</file>

<file path=customXml/itemProps1.xml><?xml version="1.0" encoding="utf-8"?>
<ds:datastoreItem xmlns:ds="http://schemas.openxmlformats.org/officeDocument/2006/customXml" ds:itemID="{506D473B-268B-4830-88FE-11023E440A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5e97bb6-fb7a-4b09-9134-7ee45b3f923e"/>
    <ds:schemaRef ds:uri="4829035b-2d40-48fe-af29-62b227ef92c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CC3E170-B3CD-48E2-89DF-DB8810E23571}">
  <ds:schemaRefs>
    <ds:schemaRef ds:uri="http://schemas.microsoft.com/sharepoint/v3/contenttype/forms"/>
  </ds:schemaRefs>
</ds:datastoreItem>
</file>

<file path=customXml/itemProps3.xml><?xml version="1.0" encoding="utf-8"?>
<ds:datastoreItem xmlns:ds="http://schemas.openxmlformats.org/officeDocument/2006/customXml" ds:itemID="{EE0A258D-E206-45F5-AD9A-19048E415023}">
  <ds:schemaRefs>
    <ds:schemaRef ds:uri="http://www.w3.org/XML/1998/namespace"/>
    <ds:schemaRef ds:uri="4829035b-2d40-48fe-af29-62b227ef92cf"/>
    <ds:schemaRef ds:uri="http://schemas.microsoft.com/office/2006/metadata/properties"/>
    <ds:schemaRef ds:uri="http://purl.org/dc/elements/1.1/"/>
    <ds:schemaRef ds:uri="a5e97bb6-fb7a-4b09-9134-7ee45b3f923e"/>
    <ds:schemaRef ds:uri="http://purl.org/dc/dcmitype/"/>
    <ds:schemaRef ds:uri="http://purl.org/dc/terms/"/>
    <ds:schemaRef ds:uri="http://schemas.microsoft.com/office/2006/documentManagement/type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13</TotalTime>
  <Words>492</Words>
  <Application>Microsoft Office PowerPoint</Application>
  <PresentationFormat>Custom</PresentationFormat>
  <Paragraphs>75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DM Sans</vt:lpstr>
      <vt:lpstr>Dela Gothic One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Ali Ashraf</dc:creator>
  <cp:lastModifiedBy>على اشرف على ابوفوده</cp:lastModifiedBy>
  <cp:revision>3</cp:revision>
  <dcterms:created xsi:type="dcterms:W3CDTF">2025-07-29T01:04:01Z</dcterms:created>
  <dcterms:modified xsi:type="dcterms:W3CDTF">2025-07-29T01:19:16Z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0x0101006F6DED76F1B40240A049751C89FD8BF7</vt:lpwstr>
  </property>
</Properties>
</file>